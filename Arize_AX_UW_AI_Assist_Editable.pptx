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8" r:id="rId3"/>
    <p:sldId id="257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8447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91440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Arize AX — enterprise observability + evaluation for AI agents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29184" y="713232"/>
            <a:ext cx="11430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 receives OpenTelemetry/OpenInference traces so we can debug, evaluate, monitor and prove quality before promotion.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20040" y="969264"/>
            <a:ext cx="115214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1024128"/>
            <a:ext cx="3703320" cy="950976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txBody>
          <a:bodyPr wrap="square" lIns="1270" tIns="1270" rIns="1270" bIns="127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563EB"/>
                </a:solidFill>
              </a:rPr>
              <a:t>What Arize AX is
</a:t>
            </a:r>
            <a:r>
              <a:rPr lang="en-US" sz="1120" dirty="0">
                <a:solidFill>
                  <a:srgbClr val="374151"/>
                </a:solidFill>
              </a:rPr>
              <a:t>Managed enterprise platform for GenAI/agent observability, evaluations, dashboards, monitoring, datasets, experiments and issue detection. Example: one UW request becomes one trace with spans for Intent, Vector, SQL, LLM and Guardrails.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4251960" y="1024128"/>
            <a:ext cx="3749040" cy="950976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11827"/>
                </a:solidFill>
              </a:rPr>
              <a:t>What Arize AX is not
</a:t>
            </a:r>
            <a:r>
              <a:rPr lang="en-US" sz="1120" dirty="0">
                <a:solidFill>
                  <a:srgbClr val="374151"/>
                </a:solidFill>
              </a:rPr>
              <a:t>Not the runtime, not the LLM, not the RAG database, and not a replacement for our policy code. AKS/Foundry runs agents; Azure AI Search retrieves documents; Optum Gateway calls GPT; Arize observes outcomes.</a:t>
            </a:r>
            <a:endParaRPr lang="en-US" sz="1120" dirty="0"/>
          </a:p>
        </p:txBody>
      </p:sp>
      <p:sp>
        <p:nvSpPr>
          <p:cNvPr id="7" name="Text 5"/>
          <p:cNvSpPr/>
          <p:nvPr/>
        </p:nvSpPr>
        <p:spPr>
          <a:xfrm>
            <a:off x="8229600" y="1024128"/>
            <a:ext cx="3611880" cy="950976"/>
          </a:xfrm>
          <a:prstGeom prst="rect">
            <a:avLst/>
          </a:prstGeom>
          <a:solidFill>
            <a:srgbClr val="ECFDF5"/>
          </a:solidFill>
          <a:ln w="12700">
            <a:solidFill>
              <a:srgbClr val="16A34A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6A34A"/>
                </a:solidFill>
              </a:rPr>
              <a:t>value
</a:t>
            </a:r>
            <a:r>
              <a:rPr lang="en-US" sz="1120" dirty="0">
                <a:solidFill>
                  <a:srgbClr val="374151"/>
                </a:solidFill>
              </a:rPr>
              <a:t>Gives AIRB-style evidence: hallucination checks, PHI-safe telemetry, rule-drift detection, recurring failure clusters, and release gates. Example: “v2 prompt improved groundedness from 88% to 96% on same dataset.”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320040" y="2185416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111827"/>
                </a:solidFill>
              </a:rPr>
              <a:t>Core concepts with examples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393192" y="2578608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2563EB"/>
                </a:solidFill>
              </a:rPr>
              <a:t>Trace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393192" y="2807208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74151"/>
                </a:solidFill>
              </a:rPr>
              <a:t>One complete UW request. Example: “Summarize member 123.”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320040" y="2523744"/>
            <a:ext cx="1847088" cy="658368"/>
          </a:xfrm>
          <a:prstGeom prst="roundRect">
            <a:avLst>
              <a:gd name="adj" fmla="val 5556"/>
            </a:avLst>
          </a:prstGeom>
          <a:solidFill>
            <a:srgbClr val="FFFFFF">
              <a:alpha val="0"/>
            </a:srgbClr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395728" y="2578608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0F766E"/>
                </a:solidFill>
              </a:rPr>
              <a:t>Span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2395728" y="2807208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74151"/>
                </a:solidFill>
              </a:rPr>
              <a:t>One step inside a trace. Example: VectorAgent → AI Search.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2322576" y="2523744"/>
            <a:ext cx="1847088" cy="658368"/>
          </a:xfrm>
          <a:prstGeom prst="roundRect">
            <a:avLst>
              <a:gd name="adj" fmla="val 5556"/>
            </a:avLst>
          </a:prstGeom>
          <a:solidFill>
            <a:srgbClr val="FFFFFF">
              <a:alpha val="0"/>
            </a:srgbClr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98264" y="2578608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7C3AED"/>
                </a:solidFill>
              </a:rPr>
              <a:t>Attributes</a:t>
            </a:r>
            <a:endParaRPr lang="en-US" sz="930" dirty="0"/>
          </a:p>
        </p:txBody>
      </p:sp>
      <p:sp>
        <p:nvSpPr>
          <p:cNvPr id="16" name="Text 14"/>
          <p:cNvSpPr/>
          <p:nvPr/>
        </p:nvSpPr>
        <p:spPr>
          <a:xfrm>
            <a:off x="4398264" y="2807208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74151"/>
                </a:solidFill>
              </a:rPr>
              <a:t>Metadata on spans. Example: route=BOTH, top_k=10, latency=420ms.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4325112" y="2523744"/>
            <a:ext cx="1847088" cy="658368"/>
          </a:xfrm>
          <a:prstGeom prst="roundRect">
            <a:avLst>
              <a:gd name="adj" fmla="val 5556"/>
            </a:avLst>
          </a:prstGeom>
          <a:solidFill>
            <a:srgbClr val="FFFFFF">
              <a:alpha val="0"/>
            </a:srgbClr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93192" y="3401568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EA580C"/>
                </a:solidFill>
              </a:rPr>
              <a:t>Evaluator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393192" y="3630168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74151"/>
                </a:solidFill>
              </a:rPr>
              <a:t>Scores correctness. Example: groundedness=PASS, citation=FAIL.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320040" y="3346704"/>
            <a:ext cx="1847088" cy="658368"/>
          </a:xfrm>
          <a:prstGeom prst="roundRect">
            <a:avLst>
              <a:gd name="adj" fmla="val 5556"/>
            </a:avLst>
          </a:prstGeom>
          <a:solidFill>
            <a:srgbClr val="FFFFFF">
              <a:alpha val="0"/>
            </a:srgbClr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395728" y="3401568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DC2626"/>
                </a:solidFill>
              </a:rPr>
              <a:t>Signal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2395728" y="3630168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74151"/>
                </a:solidFill>
              </a:rPr>
              <a:t>Groups recurring issues. Example: repeated Q&amp;A quarantine spike.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2322576" y="3346704"/>
            <a:ext cx="1847088" cy="658368"/>
          </a:xfrm>
          <a:prstGeom prst="roundRect">
            <a:avLst>
              <a:gd name="adj" fmla="val 5556"/>
            </a:avLst>
          </a:prstGeom>
          <a:solidFill>
            <a:srgbClr val="FFFFFF">
              <a:alpha val="0"/>
            </a:srgbClr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398264" y="3401568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16A34A"/>
                </a:solidFill>
              </a:rPr>
              <a:t>Dataset/Experiment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4398264" y="3630168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74151"/>
                </a:solidFill>
              </a:rPr>
              <a:t>Golden cases + version comparison. Example: current vs candidate prompt.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4325112" y="3346704"/>
            <a:ext cx="1847088" cy="658368"/>
          </a:xfrm>
          <a:prstGeom prst="roundRect">
            <a:avLst>
              <a:gd name="adj" fmla="val 5556"/>
            </a:avLst>
          </a:prstGeom>
          <a:solidFill>
            <a:srgbClr val="FFFFFF">
              <a:alpha val="0"/>
            </a:srgbClr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09360" y="218541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111827"/>
                </a:solidFill>
              </a:rPr>
              <a:t>Example trace we want for every underwriting request</a:t>
            </a:r>
            <a:endParaRPr lang="en-US" sz="1230" dirty="0"/>
          </a:p>
        </p:txBody>
      </p:sp>
      <p:sp>
        <p:nvSpPr>
          <p:cNvPr id="28" name="Text 26"/>
          <p:cNvSpPr/>
          <p:nvPr/>
        </p:nvSpPr>
        <p:spPr>
          <a:xfrm>
            <a:off x="6309360" y="2542032"/>
            <a:ext cx="702782" cy="384048"/>
          </a:xfrm>
          <a:prstGeom prst="rect">
            <a:avLst/>
          </a:prstGeom>
          <a:solidFill>
            <a:srgbClr val="123055"/>
          </a:solidFill>
          <a:ln>
            <a:solidFill>
              <a:srgbClr val="12305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</a:rPr>
              <a:t>FastAPI</a:t>
            </a:r>
            <a:endParaRPr lang="en-US" sz="840" dirty="0"/>
          </a:p>
        </p:txBody>
      </p:sp>
      <p:sp>
        <p:nvSpPr>
          <p:cNvPr id="29" name="Text 27"/>
          <p:cNvSpPr/>
          <p:nvPr/>
        </p:nvSpPr>
        <p:spPr>
          <a:xfrm>
            <a:off x="7094438" y="2542032"/>
            <a:ext cx="702782" cy="384048"/>
          </a:xfrm>
          <a:prstGeom prst="rect">
            <a:avLst/>
          </a:prstGeom>
          <a:solidFill>
            <a:srgbClr val="123055"/>
          </a:solidFill>
          <a:ln>
            <a:solidFill>
              <a:srgbClr val="12305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</a:rPr>
              <a:t>Guardrail In</a:t>
            </a:r>
            <a:endParaRPr lang="en-US" sz="840" dirty="0"/>
          </a:p>
        </p:txBody>
      </p:sp>
      <p:sp>
        <p:nvSpPr>
          <p:cNvPr id="30" name="Text 28"/>
          <p:cNvSpPr/>
          <p:nvPr/>
        </p:nvSpPr>
        <p:spPr>
          <a:xfrm>
            <a:off x="7879515" y="2542032"/>
            <a:ext cx="702782" cy="384048"/>
          </a:xfrm>
          <a:prstGeom prst="rect">
            <a:avLst/>
          </a:prstGeom>
          <a:solidFill>
            <a:srgbClr val="123055"/>
          </a:solidFill>
          <a:ln>
            <a:solidFill>
              <a:srgbClr val="12305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</a:rPr>
              <a:t>Intent</a:t>
            </a:r>
            <a:endParaRPr lang="en-US" sz="840" dirty="0"/>
          </a:p>
        </p:txBody>
      </p:sp>
      <p:sp>
        <p:nvSpPr>
          <p:cNvPr id="31" name="Text 29"/>
          <p:cNvSpPr/>
          <p:nvPr/>
        </p:nvSpPr>
        <p:spPr>
          <a:xfrm>
            <a:off x="8664593" y="2542032"/>
            <a:ext cx="702782" cy="384048"/>
          </a:xfrm>
          <a:prstGeom prst="rect">
            <a:avLst/>
          </a:prstGeom>
          <a:solidFill>
            <a:srgbClr val="123055"/>
          </a:solidFill>
          <a:ln>
            <a:solidFill>
              <a:srgbClr val="12305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</a:rPr>
              <a:t>SQL / Vector</a:t>
            </a:r>
            <a:endParaRPr lang="en-US" sz="840" dirty="0"/>
          </a:p>
        </p:txBody>
      </p:sp>
      <p:sp>
        <p:nvSpPr>
          <p:cNvPr id="32" name="Text 30"/>
          <p:cNvSpPr/>
          <p:nvPr/>
        </p:nvSpPr>
        <p:spPr>
          <a:xfrm>
            <a:off x="9449671" y="2542032"/>
            <a:ext cx="702782" cy="384048"/>
          </a:xfrm>
          <a:prstGeom prst="rect">
            <a:avLst/>
          </a:prstGeom>
          <a:solidFill>
            <a:srgbClr val="123055"/>
          </a:solidFill>
          <a:ln>
            <a:solidFill>
              <a:srgbClr val="12305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</a:rPr>
              <a:t>LLM</a:t>
            </a:r>
            <a:endParaRPr lang="en-US" sz="840" dirty="0"/>
          </a:p>
        </p:txBody>
      </p:sp>
      <p:sp>
        <p:nvSpPr>
          <p:cNvPr id="33" name="Text 31"/>
          <p:cNvSpPr/>
          <p:nvPr/>
        </p:nvSpPr>
        <p:spPr>
          <a:xfrm>
            <a:off x="10234749" y="2542032"/>
            <a:ext cx="702782" cy="384048"/>
          </a:xfrm>
          <a:prstGeom prst="rect">
            <a:avLst/>
          </a:prstGeom>
          <a:solidFill>
            <a:srgbClr val="123055"/>
          </a:solidFill>
          <a:ln>
            <a:solidFill>
              <a:srgbClr val="12305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</a:rPr>
              <a:t>Grounding</a:t>
            </a:r>
            <a:endParaRPr lang="en-US" sz="840" dirty="0"/>
          </a:p>
        </p:txBody>
      </p:sp>
      <p:sp>
        <p:nvSpPr>
          <p:cNvPr id="34" name="Text 32"/>
          <p:cNvSpPr/>
          <p:nvPr/>
        </p:nvSpPr>
        <p:spPr>
          <a:xfrm>
            <a:off x="11019826" y="2542032"/>
            <a:ext cx="702782" cy="384048"/>
          </a:xfrm>
          <a:prstGeom prst="rect">
            <a:avLst/>
          </a:prstGeom>
          <a:solidFill>
            <a:srgbClr val="123055"/>
          </a:solidFill>
          <a:ln>
            <a:solidFill>
              <a:srgbClr val="12305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</a:rPr>
              <a:t>Response</a:t>
            </a:r>
            <a:endParaRPr lang="en-US" sz="840" dirty="0"/>
          </a:p>
        </p:txBody>
      </p:sp>
      <p:sp>
        <p:nvSpPr>
          <p:cNvPr id="35" name="Text 33"/>
          <p:cNvSpPr/>
          <p:nvPr/>
        </p:nvSpPr>
        <p:spPr>
          <a:xfrm>
            <a:off x="6327648" y="3026664"/>
            <a:ext cx="5367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</a:rPr>
              <a:t>Each box emits a span; failures become searchable/filterable in Arize.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09360" y="3438144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111827"/>
                </a:solidFill>
              </a:rPr>
              <a:t>Deep features mapped to outputs</a:t>
            </a:r>
            <a:endParaRPr lang="en-US" sz="1230" dirty="0"/>
          </a:p>
        </p:txBody>
      </p:sp>
      <p:sp>
        <p:nvSpPr>
          <p:cNvPr id="37" name="Text 35"/>
          <p:cNvSpPr/>
          <p:nvPr/>
        </p:nvSpPr>
        <p:spPr>
          <a:xfrm>
            <a:off x="6309360" y="3767328"/>
            <a:ext cx="1143000" cy="256032"/>
          </a:xfrm>
          <a:prstGeom prst="rect">
            <a:avLst/>
          </a:prstGeom>
          <a:solidFill>
            <a:srgbClr val="374151"/>
          </a:solidFill>
          <a:ln>
            <a:solidFill>
              <a:srgbClr val="37415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Feature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7498080" y="3767328"/>
            <a:ext cx="1691640" cy="256032"/>
          </a:xfrm>
          <a:prstGeom prst="rect">
            <a:avLst/>
          </a:prstGeom>
          <a:solidFill>
            <a:srgbClr val="374151"/>
          </a:solidFill>
          <a:ln>
            <a:solidFill>
              <a:srgbClr val="37415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What it gives</a:t>
            </a:r>
            <a:endParaRPr lang="en-US" sz="780" dirty="0"/>
          </a:p>
        </p:txBody>
      </p:sp>
      <p:sp>
        <p:nvSpPr>
          <p:cNvPr id="39" name="Text 37"/>
          <p:cNvSpPr/>
          <p:nvPr/>
        </p:nvSpPr>
        <p:spPr>
          <a:xfrm>
            <a:off x="9235440" y="3767328"/>
            <a:ext cx="2487168" cy="256032"/>
          </a:xfrm>
          <a:prstGeom prst="rect">
            <a:avLst/>
          </a:prstGeom>
          <a:solidFill>
            <a:srgbClr val="374151"/>
          </a:solidFill>
          <a:ln>
            <a:solidFill>
              <a:srgbClr val="37415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Example output</a:t>
            </a:r>
            <a:endParaRPr lang="en-US" sz="780" dirty="0"/>
          </a:p>
        </p:txBody>
      </p:sp>
      <p:sp>
        <p:nvSpPr>
          <p:cNvPr id="40" name="Text 38"/>
          <p:cNvSpPr/>
          <p:nvPr/>
        </p:nvSpPr>
        <p:spPr>
          <a:xfrm>
            <a:off x="6327648" y="4069080"/>
            <a:ext cx="1097280" cy="201168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111827"/>
                </a:solidFill>
              </a:rPr>
              <a:t>Tracing</a:t>
            </a:r>
            <a:endParaRPr lang="en-US" sz="830" dirty="0"/>
          </a:p>
        </p:txBody>
      </p:sp>
      <p:sp>
        <p:nvSpPr>
          <p:cNvPr id="41" name="Text 39"/>
          <p:cNvSpPr/>
          <p:nvPr/>
        </p:nvSpPr>
        <p:spPr>
          <a:xfrm>
            <a:off x="7516368" y="4069080"/>
            <a:ext cx="1645920" cy="201168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374151"/>
                </a:solidFill>
              </a:rPr>
              <a:t>Root-cause exact step</a:t>
            </a:r>
            <a:endParaRPr lang="en-US" sz="830" dirty="0"/>
          </a:p>
        </p:txBody>
      </p:sp>
      <p:sp>
        <p:nvSpPr>
          <p:cNvPr id="42" name="Text 40"/>
          <p:cNvSpPr/>
          <p:nvPr/>
        </p:nvSpPr>
        <p:spPr>
          <a:xfrm>
            <a:off x="9253728" y="4069080"/>
            <a:ext cx="2450592" cy="201168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374151"/>
                </a:solidFill>
              </a:rPr>
              <a:t>Vector retrieval failed</a:t>
            </a:r>
            <a:endParaRPr lang="en-US" sz="830" dirty="0"/>
          </a:p>
        </p:txBody>
      </p:sp>
      <p:sp>
        <p:nvSpPr>
          <p:cNvPr id="43" name="Text 41"/>
          <p:cNvSpPr/>
          <p:nvPr/>
        </p:nvSpPr>
        <p:spPr>
          <a:xfrm>
            <a:off x="6327648" y="4352544"/>
            <a:ext cx="109728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111827"/>
                </a:solidFill>
              </a:rPr>
              <a:t>Guardrail spans</a:t>
            </a:r>
            <a:endParaRPr lang="en-US" sz="830" dirty="0"/>
          </a:p>
        </p:txBody>
      </p:sp>
      <p:sp>
        <p:nvSpPr>
          <p:cNvPr id="44" name="Text 42"/>
          <p:cNvSpPr/>
          <p:nvPr/>
        </p:nvSpPr>
        <p:spPr>
          <a:xfrm>
            <a:off x="7516368" y="4352544"/>
            <a:ext cx="164592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374151"/>
                </a:solidFill>
              </a:rPr>
              <a:t>Filter by safety result</a:t>
            </a:r>
            <a:endParaRPr lang="en-US" sz="830" dirty="0"/>
          </a:p>
        </p:txBody>
      </p:sp>
      <p:sp>
        <p:nvSpPr>
          <p:cNvPr id="45" name="Text 43"/>
          <p:cNvSpPr/>
          <p:nvPr/>
        </p:nvSpPr>
        <p:spPr>
          <a:xfrm>
            <a:off x="9253728" y="4352544"/>
            <a:ext cx="2450592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374151"/>
                </a:solidFill>
              </a:rPr>
              <a:t>guardrail.status=QUARANTINED</a:t>
            </a:r>
            <a:endParaRPr lang="en-US" sz="830" dirty="0"/>
          </a:p>
        </p:txBody>
      </p:sp>
      <p:sp>
        <p:nvSpPr>
          <p:cNvPr id="46" name="Text 44"/>
          <p:cNvSpPr/>
          <p:nvPr/>
        </p:nvSpPr>
        <p:spPr>
          <a:xfrm>
            <a:off x="6327648" y="4636008"/>
            <a:ext cx="1097280" cy="201168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111827"/>
                </a:solidFill>
              </a:rPr>
              <a:t>Online evals</a:t>
            </a:r>
            <a:endParaRPr lang="en-US" sz="830" dirty="0"/>
          </a:p>
        </p:txBody>
      </p:sp>
      <p:sp>
        <p:nvSpPr>
          <p:cNvPr id="47" name="Text 45"/>
          <p:cNvSpPr/>
          <p:nvPr/>
        </p:nvSpPr>
        <p:spPr>
          <a:xfrm>
            <a:off x="7516368" y="4636008"/>
            <a:ext cx="1645920" cy="201168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374151"/>
                </a:solidFill>
              </a:rPr>
              <a:t>Continuous quality score</a:t>
            </a:r>
            <a:endParaRPr lang="en-US" sz="830" dirty="0"/>
          </a:p>
        </p:txBody>
      </p:sp>
      <p:sp>
        <p:nvSpPr>
          <p:cNvPr id="48" name="Text 46"/>
          <p:cNvSpPr/>
          <p:nvPr/>
        </p:nvSpPr>
        <p:spPr>
          <a:xfrm>
            <a:off x="9253728" y="4636008"/>
            <a:ext cx="2450592" cy="201168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374151"/>
                </a:solidFill>
              </a:rPr>
              <a:t>faithfulness=4.3/5</a:t>
            </a:r>
            <a:endParaRPr lang="en-US" sz="830" dirty="0"/>
          </a:p>
        </p:txBody>
      </p:sp>
      <p:sp>
        <p:nvSpPr>
          <p:cNvPr id="49" name="Text 47"/>
          <p:cNvSpPr/>
          <p:nvPr/>
        </p:nvSpPr>
        <p:spPr>
          <a:xfrm>
            <a:off x="6327648" y="4919472"/>
            <a:ext cx="109728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111827"/>
                </a:solidFill>
              </a:rPr>
              <a:t>Code evals</a:t>
            </a:r>
            <a:endParaRPr lang="en-US" sz="830" dirty="0"/>
          </a:p>
        </p:txBody>
      </p:sp>
      <p:sp>
        <p:nvSpPr>
          <p:cNvPr id="50" name="Text 48"/>
          <p:cNvSpPr/>
          <p:nvPr/>
        </p:nvSpPr>
        <p:spPr>
          <a:xfrm>
            <a:off x="7516368" y="4919472"/>
            <a:ext cx="164592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374151"/>
                </a:solidFill>
              </a:rPr>
              <a:t>Deterministic checks</a:t>
            </a:r>
            <a:endParaRPr lang="en-US" sz="830" dirty="0"/>
          </a:p>
        </p:txBody>
      </p:sp>
      <p:sp>
        <p:nvSpPr>
          <p:cNvPr id="51" name="Text 49"/>
          <p:cNvSpPr/>
          <p:nvPr/>
        </p:nvSpPr>
        <p:spPr>
          <a:xfrm>
            <a:off x="9253728" y="4919472"/>
            <a:ext cx="2450592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374151"/>
                </a:solidFill>
              </a:rPr>
              <a:t>citation_required=FAIL</a:t>
            </a:r>
            <a:endParaRPr lang="en-US" sz="830" dirty="0"/>
          </a:p>
        </p:txBody>
      </p:sp>
      <p:sp>
        <p:nvSpPr>
          <p:cNvPr id="52" name="Text 50"/>
          <p:cNvSpPr/>
          <p:nvPr/>
        </p:nvSpPr>
        <p:spPr>
          <a:xfrm>
            <a:off x="6327648" y="5202936"/>
            <a:ext cx="1097280" cy="201168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111827"/>
                </a:solidFill>
              </a:rPr>
              <a:t>Experiments</a:t>
            </a:r>
            <a:endParaRPr lang="en-US" sz="830" dirty="0"/>
          </a:p>
        </p:txBody>
      </p:sp>
      <p:sp>
        <p:nvSpPr>
          <p:cNvPr id="53" name="Text 51"/>
          <p:cNvSpPr/>
          <p:nvPr/>
        </p:nvSpPr>
        <p:spPr>
          <a:xfrm>
            <a:off x="7516368" y="5202936"/>
            <a:ext cx="1645920" cy="201168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374151"/>
                </a:solidFill>
              </a:rPr>
              <a:t>Release proof</a:t>
            </a:r>
            <a:endParaRPr lang="en-US" sz="830" dirty="0"/>
          </a:p>
        </p:txBody>
      </p:sp>
      <p:sp>
        <p:nvSpPr>
          <p:cNvPr id="54" name="Text 52"/>
          <p:cNvSpPr/>
          <p:nvPr/>
        </p:nvSpPr>
        <p:spPr>
          <a:xfrm>
            <a:off x="9253728" y="5202936"/>
            <a:ext cx="2450592" cy="201168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374151"/>
                </a:solidFill>
              </a:rPr>
              <a:t>v1 vs v2 score comparison</a:t>
            </a:r>
            <a:endParaRPr lang="en-US" sz="830" dirty="0"/>
          </a:p>
        </p:txBody>
      </p:sp>
      <p:sp>
        <p:nvSpPr>
          <p:cNvPr id="55" name="Text 53"/>
          <p:cNvSpPr/>
          <p:nvPr/>
        </p:nvSpPr>
        <p:spPr>
          <a:xfrm>
            <a:off x="6327648" y="5486400"/>
            <a:ext cx="109728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111827"/>
                </a:solidFill>
              </a:rPr>
              <a:t>Dashboards</a:t>
            </a:r>
            <a:endParaRPr lang="en-US" sz="830" dirty="0"/>
          </a:p>
        </p:txBody>
      </p:sp>
      <p:sp>
        <p:nvSpPr>
          <p:cNvPr id="56" name="Text 54"/>
          <p:cNvSpPr/>
          <p:nvPr/>
        </p:nvSpPr>
        <p:spPr>
          <a:xfrm>
            <a:off x="7516368" y="5486400"/>
            <a:ext cx="164592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374151"/>
                </a:solidFill>
              </a:rPr>
              <a:t>Ops view</a:t>
            </a:r>
            <a:endParaRPr lang="en-US" sz="830" dirty="0"/>
          </a:p>
        </p:txBody>
      </p:sp>
      <p:sp>
        <p:nvSpPr>
          <p:cNvPr id="57" name="Text 55"/>
          <p:cNvSpPr/>
          <p:nvPr/>
        </p:nvSpPr>
        <p:spPr>
          <a:xfrm>
            <a:off x="9253728" y="5486400"/>
            <a:ext cx="2450592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374151"/>
                </a:solidFill>
              </a:rPr>
              <a:t>p95 latency, cost, drift</a:t>
            </a:r>
            <a:endParaRPr lang="en-US" sz="830" dirty="0"/>
          </a:p>
        </p:txBody>
      </p:sp>
      <p:sp>
        <p:nvSpPr>
          <p:cNvPr id="58" name="Text 56"/>
          <p:cNvSpPr/>
          <p:nvPr/>
        </p:nvSpPr>
        <p:spPr>
          <a:xfrm>
            <a:off x="320040" y="423367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111827"/>
                </a:solidFill>
              </a:rPr>
              <a:t>Security posture</a:t>
            </a:r>
            <a:endParaRPr lang="en-US" sz="1230" dirty="0"/>
          </a:p>
        </p:txBody>
      </p:sp>
      <p:sp>
        <p:nvSpPr>
          <p:cNvPr id="59" name="Text 57"/>
          <p:cNvSpPr/>
          <p:nvPr/>
        </p:nvSpPr>
        <p:spPr>
          <a:xfrm>
            <a:off x="320040" y="4535424"/>
            <a:ext cx="2788920" cy="804672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txBody>
          <a:bodyPr wrap="square" lIns="1270" tIns="1270" rIns="1270" bIns="1270" rtlCol="0" anchor="t">
            <a:normAutofit fontScale="92500"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EA580C"/>
                </a:solidFill>
              </a:rPr>
              <a:t>PHI-safe telemetry
</a:t>
            </a:r>
            <a:r>
              <a:rPr lang="en-US" sz="1120" dirty="0">
                <a:solidFill>
                  <a:srgbClr val="374151"/>
                </a:solidFill>
              </a:rPr>
              <a:t> structural metadata over raw text: route, pass/fail, counts, source IDs, scores, durations. If clinical text is needed, redact before span export. Example: claim_text_redacted="[REDACTED]".</a:t>
            </a:r>
            <a:endParaRPr lang="en-US" sz="1120" dirty="0"/>
          </a:p>
        </p:txBody>
      </p:sp>
      <p:sp>
        <p:nvSpPr>
          <p:cNvPr id="60" name="Text 58"/>
          <p:cNvSpPr/>
          <p:nvPr/>
        </p:nvSpPr>
        <p:spPr>
          <a:xfrm>
            <a:off x="3291840" y="4535424"/>
            <a:ext cx="2761488" cy="804672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txBody>
          <a:bodyPr wrap="square" lIns="1270" tIns="1270" rIns="1270" bIns="127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7C3AED"/>
                </a:solidFill>
              </a:rPr>
              <a:t>Access and network
</a:t>
            </a:r>
            <a:r>
              <a:rPr lang="en-US" sz="1120" dirty="0">
                <a:solidFill>
                  <a:srgbClr val="374151"/>
                </a:solidFill>
              </a:rPr>
              <a:t>separate Arize projects for DEV/QA/PROD; store Arize keys in Key Vault; enable SSO/RBAC; validate Private Link / approved connectivity before production telemetry.</a:t>
            </a:r>
            <a:endParaRPr lang="en-US" sz="1120" dirty="0"/>
          </a:p>
        </p:txBody>
      </p:sp>
      <p:sp>
        <p:nvSpPr>
          <p:cNvPr id="61" name="Text 59"/>
          <p:cNvSpPr/>
          <p:nvPr/>
        </p:nvSpPr>
        <p:spPr>
          <a:xfrm>
            <a:off x="6236208" y="5431536"/>
            <a:ext cx="5486400" cy="493776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txBody>
          <a:bodyPr wrap="square" lIns="1270" tIns="1270" rIns="1270" bIns="127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11827"/>
                </a:solidFill>
              </a:rPr>
              <a:t>Keep controls in app
</a:t>
            </a:r>
            <a:r>
              <a:rPr lang="en-US" sz="1120" dirty="0">
                <a:solidFill>
                  <a:srgbClr val="374151"/>
                </a:solidFill>
              </a:rPr>
              <a:t>Arize observes guardrails; it does not replace them. No-decision policy, member authorization and evidence rules remain enforced in UW AI Assist code.</a:t>
            </a:r>
            <a:endParaRPr lang="en-US" sz="1120" dirty="0"/>
          </a:p>
        </p:txBody>
      </p:sp>
      <p:sp>
        <p:nvSpPr>
          <p:cNvPr id="62" name="Text 60"/>
          <p:cNvSpPr/>
          <p:nvPr/>
        </p:nvSpPr>
        <p:spPr>
          <a:xfrm>
            <a:off x="320040" y="6199632"/>
            <a:ext cx="115214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123055"/>
                </a:solidFill>
              </a:rPr>
              <a:t>“Arize AX gives us trace-level proof of what the agent did, evaluation proof that it was correct, and dashboards/signals to catch quality or production issues over time.”</a:t>
            </a:r>
            <a:endParaRPr lang="en-US" sz="10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758952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231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Arize AX — Complete Topic Map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29184" y="502920"/>
            <a:ext cx="9601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10259568" y="22860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runtime</a:t>
            </a:r>
            <a:endParaRPr lang="en-US" sz="830" dirty="0"/>
          </a:p>
          <a:p>
            <a:pPr marL="0" indent="0" algn="ctr">
              <a:buNone/>
            </a:pPr>
            <a:r>
              <a:rPr lang="en-US" sz="83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observes agents</a:t>
            </a:r>
            <a:endParaRPr lang="en-US" sz="830" dirty="0"/>
          </a:p>
        </p:txBody>
      </p:sp>
      <p:sp>
        <p:nvSpPr>
          <p:cNvPr id="6" name="Shape 4"/>
          <p:cNvSpPr/>
          <p:nvPr/>
        </p:nvSpPr>
        <p:spPr>
          <a:xfrm>
            <a:off x="320040" y="850392"/>
            <a:ext cx="2212848" cy="594360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1524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93192" y="914400"/>
            <a:ext cx="2066544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Instrument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393192" y="1115568"/>
            <a:ext cx="206654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6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OpenTelemetry / OpenInference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 + manual spans</a:t>
            </a:r>
            <a:endParaRPr lang="en-US" sz="670" dirty="0"/>
          </a:p>
        </p:txBody>
      </p:sp>
      <p:sp>
        <p:nvSpPr>
          <p:cNvPr id="9" name="Text 7"/>
          <p:cNvSpPr/>
          <p:nvPr/>
        </p:nvSpPr>
        <p:spPr>
          <a:xfrm>
            <a:off x="2542032" y="1033272"/>
            <a:ext cx="73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624328" y="850392"/>
            <a:ext cx="2212848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97480" y="914400"/>
            <a:ext cx="2066544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2697480" y="1115568"/>
            <a:ext cx="206654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6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Traces, spans, sessions,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dashboards, latency/cost</a:t>
            </a:r>
            <a:endParaRPr lang="en-US" sz="670" dirty="0"/>
          </a:p>
        </p:txBody>
      </p:sp>
      <p:sp>
        <p:nvSpPr>
          <p:cNvPr id="13" name="Text 11"/>
          <p:cNvSpPr/>
          <p:nvPr/>
        </p:nvSpPr>
        <p:spPr>
          <a:xfrm>
            <a:off x="4846320" y="1033272"/>
            <a:ext cx="73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928616" y="850392"/>
            <a:ext cx="2212848" cy="594360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152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01768" y="914400"/>
            <a:ext cx="2066544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5001768" y="1115568"/>
            <a:ext cx="206654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6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judge + code evals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span/trace/session scoring</a:t>
            </a:r>
            <a:endParaRPr lang="en-US" sz="670" dirty="0"/>
          </a:p>
        </p:txBody>
      </p:sp>
      <p:sp>
        <p:nvSpPr>
          <p:cNvPr id="17" name="Text 15"/>
          <p:cNvSpPr/>
          <p:nvPr/>
        </p:nvSpPr>
        <p:spPr>
          <a:xfrm>
            <a:off x="7150608" y="1033272"/>
            <a:ext cx="73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232904" y="850392"/>
            <a:ext cx="2212848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524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06056" y="914400"/>
            <a:ext cx="2066544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7306056" y="1115568"/>
            <a:ext cx="206654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6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 → dataset → experiment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 better before PR</a:t>
            </a:r>
            <a:endParaRPr lang="en-US" sz="670" dirty="0"/>
          </a:p>
        </p:txBody>
      </p:sp>
      <p:sp>
        <p:nvSpPr>
          <p:cNvPr id="21" name="Text 19"/>
          <p:cNvSpPr/>
          <p:nvPr/>
        </p:nvSpPr>
        <p:spPr>
          <a:xfrm>
            <a:off x="9454896" y="1033272"/>
            <a:ext cx="73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537192" y="850392"/>
            <a:ext cx="2212848" cy="594360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1524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610344" y="914400"/>
            <a:ext cx="2066544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9610344" y="1115568"/>
            <a:ext cx="206654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6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Link, SSO/RBAC,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regions, redaction</a:t>
            </a:r>
            <a:endParaRPr lang="en-US" sz="670" dirty="0"/>
          </a:p>
        </p:txBody>
      </p:sp>
      <p:sp>
        <p:nvSpPr>
          <p:cNvPr id="25" name="Shape 23"/>
          <p:cNvSpPr/>
          <p:nvPr/>
        </p:nvSpPr>
        <p:spPr>
          <a:xfrm>
            <a:off x="320040" y="1691640"/>
            <a:ext cx="2834640" cy="1508760"/>
          </a:xfrm>
          <a:prstGeom prst="roundRect">
            <a:avLst>
              <a:gd name="adj" fmla="val 4848"/>
            </a:avLst>
          </a:prstGeom>
          <a:solidFill>
            <a:srgbClr val="ECFDF5"/>
          </a:solidFill>
          <a:ln w="1651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11480" y="1764792"/>
            <a:ext cx="26517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Instrumentation types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" y="2029968"/>
            <a:ext cx="2651760" cy="11155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Auto-instrumentation: OpenAI SDK + LangGraph/LangChain calls traced with minimal code.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Manual spans: name our Intent, SQL, Vector, Chatbot, Summary agents.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Span kinds: CHAIN=agent step, LLM=model call, RETRIEVER=AI Search, TOOL=MuleSoft/API, GUARDRAIL=verification.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Example: Summary request shows extractor → RuleEngine → LLM → Medical QA as one trace.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337560" y="1691640"/>
            <a:ext cx="2834640" cy="1508760"/>
          </a:xfrm>
          <a:prstGeom prst="roundRect">
            <a:avLst>
              <a:gd name="adj" fmla="val 4848"/>
            </a:avLst>
          </a:prstGeom>
          <a:solidFill>
            <a:srgbClr val="EFF6FF"/>
          </a:solidFill>
          <a:ln w="1651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429000" y="1764792"/>
            <a:ext cx="26517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2) Observe / dashboards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429000" y="2029968"/>
            <a:ext cx="2651760" cy="11155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Traces answer “what happened?” across one UW request.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Dashboards show trace volume, p95 latency, token/cost, error rate, guardrail failures.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Example output: VectorAgent 420ms, MuleSoft tool 1.1s, LLM 2.4s, guardrail.status=PASS.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355080" y="1691640"/>
            <a:ext cx="2834640" cy="1508760"/>
          </a:xfrm>
          <a:prstGeom prst="roundRect">
            <a:avLst>
              <a:gd name="adj" fmla="val 4848"/>
            </a:avLst>
          </a:prstGeom>
          <a:solidFill>
            <a:srgbClr val="F5F3FF"/>
          </a:solidFill>
          <a:ln w="1651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46520" y="1764792"/>
            <a:ext cx="26517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3) Evaluations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46520" y="2029968"/>
            <a:ext cx="2651760" cy="11155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LLM-as-Judge: groundedness, faithfulness, summary quality when judgment is semantic.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Code evaluators: route correctness, required citation, no-evidence behavior, output schema.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Offline evaluator: replay RuleEngine on traced inputs and flag MATCH/DRIFT.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Example: “No evidence + definitive answer” → FAIL.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9372600" y="169164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FFF7ED"/>
          </a:solidFill>
          <a:ln w="1651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464040" y="1764792"/>
            <a:ext cx="2331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4) Signal &amp; issue triage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464040" y="2029968"/>
            <a:ext cx="2331720" cy="11155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Signal clusters recurring failures instead of reviewing thousands of traces.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Example issue: “Q&amp;A grounding failures repeatedly occur for hospitalization questions.”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Team opens example traces and converts failures into dataset cases.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20040" y="3383280"/>
            <a:ext cx="2834640" cy="1481328"/>
          </a:xfrm>
          <a:prstGeom prst="roundRect">
            <a:avLst>
              <a:gd name="adj" fmla="val 4938"/>
            </a:avLst>
          </a:prstGeom>
          <a:solidFill>
            <a:srgbClr val="FFF7ED"/>
          </a:solidFill>
          <a:ln w="1651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11480" y="3456432"/>
            <a:ext cx="26517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5) Datasets &amp; experiments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11480" y="3721608"/>
            <a:ext cx="2651760" cy="10881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Build golden regression dataset from synthetic + failed traces.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Run current vs candidate prompt/model/retrieval/code with same evaluator.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Example output: groundedness 89% → 97%, latency 2.1s → 1.8s; only then move PR to QA.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337560" y="3383280"/>
            <a:ext cx="2834640" cy="1481328"/>
          </a:xfrm>
          <a:prstGeom prst="roundRect">
            <a:avLst>
              <a:gd name="adj" fmla="val 4938"/>
            </a:avLst>
          </a:prstGeom>
          <a:solidFill>
            <a:srgbClr val="F8FAFC"/>
          </a:solidFill>
          <a:ln w="1651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429000" y="3456432"/>
            <a:ext cx="26517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6) Prompt / model management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429000" y="3721608"/>
            <a:ext cx="2651760" cy="10881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Optional prompt lifecycle: Q&amp;A Prompt v1/v2/v3 with dev/stage/prod labels.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prompt or model changes in Experiments before release.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For initial POC: keep prompts in Git; use Arize mainly for tracing, evals, datasets and experiments.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6355080" y="3383280"/>
            <a:ext cx="2834640" cy="1481328"/>
          </a:xfrm>
          <a:prstGeom prst="roundRect">
            <a:avLst>
              <a:gd name="adj" fmla="val 4938"/>
            </a:avLst>
          </a:prstGeom>
          <a:solidFill>
            <a:srgbClr val="ECFDF5"/>
          </a:solidFill>
          <a:ln w="1651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446520" y="3456432"/>
            <a:ext cx="26517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7) Security &amp; enterprise controls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46520" y="3721608"/>
            <a:ext cx="2651760" cy="10881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Credentials: ARIZE_SPACE_ID/API_KEY in Key Vault, never Git/Helm/image.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PHI: redact clinical text; prefer route/status/count/source IDs/scores.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Network: Private Connect / Azure Private Link if required.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Access: SSO/RBAC, data region, whitelisting before prod telemetry.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9372600" y="3383280"/>
            <a:ext cx="2514600" cy="1481328"/>
          </a:xfrm>
          <a:prstGeom prst="roundRect">
            <a:avLst>
              <a:gd name="adj" fmla="val 4938"/>
            </a:avLst>
          </a:prstGeom>
          <a:solidFill>
            <a:srgbClr val="EFF6FF"/>
          </a:solidFill>
          <a:ln w="1651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9464040" y="3456432"/>
            <a:ext cx="2331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8) Ways to use AX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464040" y="3721608"/>
            <a:ext cx="2331720" cy="10881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Arize UI: traces, Signal, datasets, experiments.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Python SDK / TypeScript SDK: automate spans, datasets, prompts, experiments.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ax CLI: CI/script operations.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Alyx: conversational trace/eval analysis.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Skills/MCP: optional coding-agent/IDE help.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91440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we use Arize AX in UW AI Assist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29184" y="713232"/>
            <a:ext cx="11430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instrument, trace, evaluate, build regression cases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20040" y="969264"/>
            <a:ext cx="115214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111827"/>
                </a:solidFill>
              </a:rPr>
              <a:t>Where it plugs into our current flow</a:t>
            </a:r>
            <a:endParaRPr lang="en-US" sz="1230" dirty="0"/>
          </a:p>
        </p:txBody>
      </p:sp>
      <p:sp>
        <p:nvSpPr>
          <p:cNvPr id="6" name="Text 4"/>
          <p:cNvSpPr/>
          <p:nvPr/>
        </p:nvSpPr>
        <p:spPr>
          <a:xfrm>
            <a:off x="320040" y="1335024"/>
            <a:ext cx="732826" cy="38404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</a:rPr>
              <a:t>UW Request</a:t>
            </a:r>
            <a:endParaRPr lang="en-US" sz="840" dirty="0"/>
          </a:p>
        </p:txBody>
      </p:sp>
      <p:sp>
        <p:nvSpPr>
          <p:cNvPr id="7" name="Text 5"/>
          <p:cNvSpPr/>
          <p:nvPr/>
        </p:nvSpPr>
        <p:spPr>
          <a:xfrm>
            <a:off x="1135162" y="1335024"/>
            <a:ext cx="732826" cy="38404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</a:rPr>
              <a:t>FastAPI</a:t>
            </a:r>
            <a:endParaRPr lang="en-US" sz="840" dirty="0"/>
          </a:p>
        </p:txBody>
      </p:sp>
      <p:sp>
        <p:nvSpPr>
          <p:cNvPr id="8" name="Text 6"/>
          <p:cNvSpPr/>
          <p:nvPr/>
        </p:nvSpPr>
        <p:spPr>
          <a:xfrm>
            <a:off x="1950285" y="1335024"/>
            <a:ext cx="732826" cy="38404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</a:rPr>
              <a:t>LangGraph</a:t>
            </a:r>
            <a:endParaRPr lang="en-US" sz="840" dirty="0"/>
          </a:p>
        </p:txBody>
      </p:sp>
      <p:sp>
        <p:nvSpPr>
          <p:cNvPr id="9" name="Text 7"/>
          <p:cNvSpPr/>
          <p:nvPr/>
        </p:nvSpPr>
        <p:spPr>
          <a:xfrm>
            <a:off x="2765407" y="1335024"/>
            <a:ext cx="732826" cy="38404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</a:rPr>
              <a:t>Agents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3580529" y="1335024"/>
            <a:ext cx="732826" cy="38404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</a:rPr>
              <a:t>Search/APIs</a:t>
            </a:r>
            <a:endParaRPr lang="en-US" sz="840" dirty="0"/>
          </a:p>
        </p:txBody>
      </p:sp>
      <p:sp>
        <p:nvSpPr>
          <p:cNvPr id="11" name="Text 9"/>
          <p:cNvSpPr/>
          <p:nvPr/>
        </p:nvSpPr>
        <p:spPr>
          <a:xfrm>
            <a:off x="4395651" y="1335024"/>
            <a:ext cx="732826" cy="38404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</a:rPr>
              <a:t>LLM</a:t>
            </a:r>
            <a:endParaRPr lang="en-US" sz="840" dirty="0"/>
          </a:p>
        </p:txBody>
      </p:sp>
      <p:sp>
        <p:nvSpPr>
          <p:cNvPr id="12" name="Text 10"/>
          <p:cNvSpPr/>
          <p:nvPr/>
        </p:nvSpPr>
        <p:spPr>
          <a:xfrm>
            <a:off x="5210774" y="1335024"/>
            <a:ext cx="732826" cy="38404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</a:rPr>
              <a:t>Guardrails</a:t>
            </a:r>
            <a:endParaRPr lang="en-US" sz="840" dirty="0"/>
          </a:p>
        </p:txBody>
      </p:sp>
      <p:sp>
        <p:nvSpPr>
          <p:cNvPr id="13" name="Text 11"/>
          <p:cNvSpPr/>
          <p:nvPr/>
        </p:nvSpPr>
        <p:spPr>
          <a:xfrm>
            <a:off x="502920" y="1847088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F766E"/>
                </a:solidFill>
              </a:rPr>
              <a:t>OpenTelemetry / OpenInference exports redacted spans → Arize AX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320040" y="2167128"/>
            <a:ext cx="868680" cy="384048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</a:rPr>
              <a:t>Traces</a:t>
            </a:r>
            <a:endParaRPr lang="en-US" sz="840" dirty="0"/>
          </a:p>
        </p:txBody>
      </p:sp>
      <p:sp>
        <p:nvSpPr>
          <p:cNvPr id="15" name="Text 13"/>
          <p:cNvSpPr/>
          <p:nvPr/>
        </p:nvSpPr>
        <p:spPr>
          <a:xfrm>
            <a:off x="1271016" y="2167128"/>
            <a:ext cx="868680" cy="384048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</a:rPr>
              <a:t>Evaluations</a:t>
            </a:r>
            <a:endParaRPr lang="en-US" sz="840" dirty="0"/>
          </a:p>
        </p:txBody>
      </p:sp>
      <p:sp>
        <p:nvSpPr>
          <p:cNvPr id="16" name="Text 14"/>
          <p:cNvSpPr/>
          <p:nvPr/>
        </p:nvSpPr>
        <p:spPr>
          <a:xfrm>
            <a:off x="2221992" y="2167128"/>
            <a:ext cx="868680" cy="384048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</a:rPr>
              <a:t>Signal</a:t>
            </a:r>
            <a:endParaRPr lang="en-US" sz="840" dirty="0"/>
          </a:p>
        </p:txBody>
      </p:sp>
      <p:sp>
        <p:nvSpPr>
          <p:cNvPr id="17" name="Text 15"/>
          <p:cNvSpPr/>
          <p:nvPr/>
        </p:nvSpPr>
        <p:spPr>
          <a:xfrm>
            <a:off x="3172968" y="2167128"/>
            <a:ext cx="868680" cy="384048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</a:rPr>
              <a:t>Datasets</a:t>
            </a:r>
            <a:endParaRPr lang="en-US" sz="840" dirty="0"/>
          </a:p>
        </p:txBody>
      </p:sp>
      <p:sp>
        <p:nvSpPr>
          <p:cNvPr id="18" name="Text 16"/>
          <p:cNvSpPr/>
          <p:nvPr/>
        </p:nvSpPr>
        <p:spPr>
          <a:xfrm>
            <a:off x="4123944" y="2167128"/>
            <a:ext cx="868680" cy="384048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</a:rPr>
              <a:t>Experiments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5074920" y="2167128"/>
            <a:ext cx="868680" cy="384048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</a:rPr>
              <a:t>Dashboards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6263640" y="10058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111827"/>
                </a:solidFill>
              </a:rPr>
              <a:t>Implementation templates we can add to the POC</a:t>
            </a:r>
            <a:endParaRPr lang="en-US" sz="1230" dirty="0"/>
          </a:p>
        </p:txBody>
      </p:sp>
      <p:sp>
        <p:nvSpPr>
          <p:cNvPr id="21" name="Text 19"/>
          <p:cNvSpPr/>
          <p:nvPr/>
        </p:nvSpPr>
        <p:spPr>
          <a:xfrm>
            <a:off x="6263640" y="1307592"/>
            <a:ext cx="1783080" cy="228600"/>
          </a:xfrm>
          <a:prstGeom prst="rect">
            <a:avLst/>
          </a:prstGeom>
          <a:solidFill>
            <a:srgbClr val="EFF6FF"/>
          </a:solidFill>
          <a:ln w="6350">
            <a:solidFill>
              <a:srgbClr val="2563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70" b="1" dirty="0">
                <a:solidFill>
                  <a:srgbClr val="123055"/>
                </a:solidFill>
              </a:rPr>
              <a:t>tracing_init.py</a:t>
            </a:r>
            <a:endParaRPr lang="en-US" sz="870" dirty="0"/>
          </a:p>
        </p:txBody>
      </p:sp>
      <p:sp>
        <p:nvSpPr>
          <p:cNvPr id="22" name="Text 20"/>
          <p:cNvSpPr/>
          <p:nvPr/>
        </p:nvSpPr>
        <p:spPr>
          <a:xfrm>
            <a:off x="8110728" y="1307592"/>
            <a:ext cx="20574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74151"/>
                </a:solidFill>
              </a:rPr>
              <a:t>start tracing once at AKS pod/FastAPI startup</a:t>
            </a:r>
            <a:endParaRPr lang="en-US" sz="840" dirty="0"/>
          </a:p>
        </p:txBody>
      </p:sp>
      <p:sp>
        <p:nvSpPr>
          <p:cNvPr id="23" name="Text 21"/>
          <p:cNvSpPr/>
          <p:nvPr/>
        </p:nvSpPr>
        <p:spPr>
          <a:xfrm>
            <a:off x="10232136" y="1307592"/>
            <a:ext cx="1554480" cy="22860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</a:ln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74151"/>
                </a:solidFill>
              </a:rPr>
              <a:t>Trace shows Intent → SQL/Vector → LLM</a:t>
            </a:r>
            <a:endParaRPr lang="en-US" sz="840" dirty="0"/>
          </a:p>
        </p:txBody>
      </p:sp>
      <p:sp>
        <p:nvSpPr>
          <p:cNvPr id="24" name="Text 22"/>
          <p:cNvSpPr/>
          <p:nvPr/>
        </p:nvSpPr>
        <p:spPr>
          <a:xfrm>
            <a:off x="6263640" y="1645920"/>
            <a:ext cx="1783080" cy="228600"/>
          </a:xfrm>
          <a:prstGeom prst="rect">
            <a:avLst/>
          </a:prstGeom>
          <a:solidFill>
            <a:srgbClr val="EFF6FF"/>
          </a:solidFill>
          <a:ln w="6350">
            <a:solidFill>
              <a:srgbClr val="2563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70" b="1" dirty="0">
                <a:solidFill>
                  <a:srgbClr val="123055"/>
                </a:solidFill>
              </a:rPr>
              <a:t>guardrail_spans.py</a:t>
            </a:r>
            <a:endParaRPr lang="en-US" sz="870" dirty="0"/>
          </a:p>
        </p:txBody>
      </p:sp>
      <p:sp>
        <p:nvSpPr>
          <p:cNvPr id="25" name="Text 23"/>
          <p:cNvSpPr/>
          <p:nvPr/>
        </p:nvSpPr>
        <p:spPr>
          <a:xfrm>
            <a:off x="8110728" y="1645920"/>
            <a:ext cx="20574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74151"/>
                </a:solidFill>
              </a:rPr>
              <a:t>make grounding checks visible with PHI redaction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10232136" y="1645920"/>
            <a:ext cx="1554480" cy="22860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74151"/>
                </a:solidFill>
              </a:rPr>
              <a:t>QUARANTINED visible in UI</a:t>
            </a:r>
            <a:endParaRPr lang="en-US" sz="840" dirty="0"/>
          </a:p>
        </p:txBody>
      </p:sp>
      <p:sp>
        <p:nvSpPr>
          <p:cNvPr id="27" name="Text 25"/>
          <p:cNvSpPr/>
          <p:nvPr/>
        </p:nvSpPr>
        <p:spPr>
          <a:xfrm>
            <a:off x="6263640" y="1984248"/>
            <a:ext cx="1783080" cy="228600"/>
          </a:xfrm>
          <a:prstGeom prst="rect">
            <a:avLst/>
          </a:prstGeom>
          <a:solidFill>
            <a:srgbClr val="EFF6FF"/>
          </a:solidFill>
          <a:ln w="6350">
            <a:solidFill>
              <a:srgbClr val="2563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70" b="1" dirty="0">
                <a:solidFill>
                  <a:srgbClr val="123055"/>
                </a:solidFill>
              </a:rPr>
              <a:t>code_evaluator_rule_drift.py</a:t>
            </a:r>
            <a:endParaRPr lang="en-US" sz="870" dirty="0"/>
          </a:p>
        </p:txBody>
      </p:sp>
      <p:sp>
        <p:nvSpPr>
          <p:cNvPr id="28" name="Text 26"/>
          <p:cNvSpPr/>
          <p:nvPr/>
        </p:nvSpPr>
        <p:spPr>
          <a:xfrm>
            <a:off x="8110728" y="1984248"/>
            <a:ext cx="20574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74151"/>
                </a:solidFill>
              </a:rPr>
              <a:t>AKS CronJob replays RuleEngine on traces</a:t>
            </a:r>
            <a:endParaRPr lang="en-US" sz="840" dirty="0"/>
          </a:p>
        </p:txBody>
      </p:sp>
      <p:sp>
        <p:nvSpPr>
          <p:cNvPr id="29" name="Text 27"/>
          <p:cNvSpPr/>
          <p:nvPr/>
        </p:nvSpPr>
        <p:spPr>
          <a:xfrm>
            <a:off x="10232136" y="1984248"/>
            <a:ext cx="1554480" cy="22860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74151"/>
                </a:solidFill>
              </a:rPr>
              <a:t>MATCH / DRIFT labels</a:t>
            </a:r>
            <a:endParaRPr lang="en-US" sz="840" dirty="0"/>
          </a:p>
        </p:txBody>
      </p:sp>
      <p:sp>
        <p:nvSpPr>
          <p:cNvPr id="30" name="Text 28"/>
          <p:cNvSpPr/>
          <p:nvPr/>
        </p:nvSpPr>
        <p:spPr>
          <a:xfrm>
            <a:off x="6263640" y="2322576"/>
            <a:ext cx="1783080" cy="228600"/>
          </a:xfrm>
          <a:prstGeom prst="rect">
            <a:avLst/>
          </a:prstGeom>
          <a:solidFill>
            <a:srgbClr val="EFF6FF"/>
          </a:solidFill>
          <a:ln w="6350">
            <a:solidFill>
              <a:srgbClr val="2563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70" b="1" dirty="0">
                <a:solidFill>
                  <a:srgbClr val="123055"/>
                </a:solidFill>
              </a:rPr>
              <a:t>build_golden_dataset.py</a:t>
            </a:r>
            <a:endParaRPr lang="en-US" sz="870" dirty="0"/>
          </a:p>
        </p:txBody>
      </p:sp>
      <p:sp>
        <p:nvSpPr>
          <p:cNvPr id="31" name="Text 29"/>
          <p:cNvSpPr/>
          <p:nvPr/>
        </p:nvSpPr>
        <p:spPr>
          <a:xfrm>
            <a:off x="8110728" y="2322576"/>
            <a:ext cx="20574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74151"/>
                </a:solidFill>
              </a:rPr>
              <a:t>turn synthetic cases into regression dataset</a:t>
            </a:r>
            <a:endParaRPr lang="en-US" sz="840" dirty="0"/>
          </a:p>
        </p:txBody>
      </p:sp>
      <p:sp>
        <p:nvSpPr>
          <p:cNvPr id="32" name="Text 30"/>
          <p:cNvSpPr/>
          <p:nvPr/>
        </p:nvSpPr>
        <p:spPr>
          <a:xfrm>
            <a:off x="10232136" y="2322576"/>
            <a:ext cx="1554480" cy="22860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74151"/>
                </a:solidFill>
              </a:rPr>
              <a:t>9 known UW traps reusable</a:t>
            </a:r>
            <a:endParaRPr lang="en-US" sz="840" dirty="0"/>
          </a:p>
        </p:txBody>
      </p:sp>
      <p:sp>
        <p:nvSpPr>
          <p:cNvPr id="33" name="Text 31"/>
          <p:cNvSpPr/>
          <p:nvPr/>
        </p:nvSpPr>
        <p:spPr>
          <a:xfrm>
            <a:off x="6263640" y="2660904"/>
            <a:ext cx="1783080" cy="228600"/>
          </a:xfrm>
          <a:prstGeom prst="rect">
            <a:avLst/>
          </a:prstGeom>
          <a:solidFill>
            <a:srgbClr val="EFF6FF"/>
          </a:solidFill>
          <a:ln w="6350">
            <a:solidFill>
              <a:srgbClr val="2563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70" b="1" dirty="0">
                <a:solidFill>
                  <a:srgbClr val="123055"/>
                </a:solidFill>
              </a:rPr>
              <a:t>run_experiment.py</a:t>
            </a:r>
            <a:endParaRPr lang="en-US" sz="870" dirty="0"/>
          </a:p>
        </p:txBody>
      </p:sp>
      <p:sp>
        <p:nvSpPr>
          <p:cNvPr id="34" name="Text 32"/>
          <p:cNvSpPr/>
          <p:nvPr/>
        </p:nvSpPr>
        <p:spPr>
          <a:xfrm>
            <a:off x="8110728" y="2660904"/>
            <a:ext cx="20574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74151"/>
                </a:solidFill>
              </a:rPr>
              <a:t>compare current vs candidate pipeline</a:t>
            </a:r>
            <a:endParaRPr lang="en-US" sz="840" dirty="0"/>
          </a:p>
        </p:txBody>
      </p:sp>
      <p:sp>
        <p:nvSpPr>
          <p:cNvPr id="35" name="Text 33"/>
          <p:cNvSpPr/>
          <p:nvPr/>
        </p:nvSpPr>
        <p:spPr>
          <a:xfrm>
            <a:off x="10232136" y="2660904"/>
            <a:ext cx="1554480" cy="22860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74151"/>
                </a:solidFill>
              </a:rPr>
              <a:t>side-by-side pass rate</a:t>
            </a:r>
            <a:endParaRPr lang="en-US" sz="840" dirty="0"/>
          </a:p>
        </p:txBody>
      </p:sp>
      <p:sp>
        <p:nvSpPr>
          <p:cNvPr id="36" name="Text 34"/>
          <p:cNvSpPr/>
          <p:nvPr/>
        </p:nvSpPr>
        <p:spPr>
          <a:xfrm>
            <a:off x="320040" y="2980944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111827"/>
                </a:solidFill>
              </a:rPr>
              <a:t>Use cases with sample Arize outputs</a:t>
            </a:r>
            <a:endParaRPr lang="en-US" sz="1230" dirty="0"/>
          </a:p>
        </p:txBody>
      </p:sp>
      <p:sp>
        <p:nvSpPr>
          <p:cNvPr id="37" name="Text 35"/>
          <p:cNvSpPr/>
          <p:nvPr/>
        </p:nvSpPr>
        <p:spPr>
          <a:xfrm>
            <a:off x="320040" y="3255264"/>
            <a:ext cx="2011680" cy="256032"/>
          </a:xfrm>
          <a:prstGeom prst="rect">
            <a:avLst/>
          </a:prstGeom>
          <a:solidFill>
            <a:srgbClr val="374151"/>
          </a:solidFill>
          <a:ln>
            <a:solidFill>
              <a:srgbClr val="37415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Use case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2404872" y="3255264"/>
            <a:ext cx="3931920" cy="256032"/>
          </a:xfrm>
          <a:prstGeom prst="rect">
            <a:avLst/>
          </a:prstGeom>
          <a:solidFill>
            <a:srgbClr val="374151"/>
          </a:solidFill>
          <a:ln>
            <a:solidFill>
              <a:srgbClr val="37415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Example in UW AI Assist</a:t>
            </a:r>
            <a:endParaRPr lang="en-US" sz="780" dirty="0"/>
          </a:p>
        </p:txBody>
      </p:sp>
      <p:sp>
        <p:nvSpPr>
          <p:cNvPr id="39" name="Text 37"/>
          <p:cNvSpPr/>
          <p:nvPr/>
        </p:nvSpPr>
        <p:spPr>
          <a:xfrm>
            <a:off x="6409944" y="3255264"/>
            <a:ext cx="5413248" cy="256032"/>
          </a:xfrm>
          <a:prstGeom prst="rect">
            <a:avLst/>
          </a:prstGeom>
          <a:solidFill>
            <a:srgbClr val="374151"/>
          </a:solidFill>
          <a:ln>
            <a:solidFill>
              <a:srgbClr val="37415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Example Arize AX output</a:t>
            </a:r>
            <a:endParaRPr lang="en-US" sz="780" dirty="0"/>
          </a:p>
        </p:txBody>
      </p:sp>
      <p:sp>
        <p:nvSpPr>
          <p:cNvPr id="40" name="Text 38"/>
          <p:cNvSpPr/>
          <p:nvPr/>
        </p:nvSpPr>
        <p:spPr>
          <a:xfrm>
            <a:off x="320040" y="3557016"/>
            <a:ext cx="2011680" cy="18288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111827"/>
                </a:solidFill>
              </a:rPr>
              <a:t>Hallucination / grounding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2404872" y="3557016"/>
            <a:ext cx="3931920" cy="18288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374151"/>
                </a:solidFill>
              </a:rPr>
              <a:t>Q&amp;A answer claims a diagnosis but citation does not support it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6409944" y="3557016"/>
            <a:ext cx="5413248" cy="18288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374151"/>
                </a:solidFill>
              </a:rPr>
              <a:t>guardrail.status=QUARANTINED; citation_resolved=false</a:t>
            </a:r>
            <a:endParaRPr lang="en-US" sz="780" dirty="0"/>
          </a:p>
        </p:txBody>
      </p:sp>
      <p:sp>
        <p:nvSpPr>
          <p:cNvPr id="43" name="Text 41"/>
          <p:cNvSpPr/>
          <p:nvPr/>
        </p:nvSpPr>
        <p:spPr>
          <a:xfrm>
            <a:off x="320040" y="3808476"/>
            <a:ext cx="2011680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111827"/>
                </a:solidFill>
              </a:rPr>
              <a:t>Rule change risk</a:t>
            </a:r>
            <a:endParaRPr lang="en-US" sz="780" dirty="0"/>
          </a:p>
        </p:txBody>
      </p:sp>
      <p:sp>
        <p:nvSpPr>
          <p:cNvPr id="44" name="Text 42"/>
          <p:cNvSpPr/>
          <p:nvPr/>
        </p:nvSpPr>
        <p:spPr>
          <a:xfrm>
            <a:off x="2404872" y="3808476"/>
            <a:ext cx="3931920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374151"/>
                </a:solidFill>
              </a:rPr>
              <a:t>Lookback/rule YAML change silently changes determination</a:t>
            </a:r>
            <a:endParaRPr lang="en-US" sz="780" dirty="0"/>
          </a:p>
        </p:txBody>
      </p:sp>
      <p:sp>
        <p:nvSpPr>
          <p:cNvPr id="45" name="Text 43"/>
          <p:cNvSpPr/>
          <p:nvPr/>
        </p:nvSpPr>
        <p:spPr>
          <a:xfrm>
            <a:off x="6409944" y="3808476"/>
            <a:ext cx="541324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374151"/>
                </a:solidFill>
              </a:rPr>
              <a:t>RuleEngineDrift=DRIFT; score=0.0; trace linked</a:t>
            </a:r>
            <a:endParaRPr lang="en-US" sz="780" dirty="0"/>
          </a:p>
        </p:txBody>
      </p:sp>
      <p:sp>
        <p:nvSpPr>
          <p:cNvPr id="46" name="Text 44"/>
          <p:cNvSpPr/>
          <p:nvPr/>
        </p:nvSpPr>
        <p:spPr>
          <a:xfrm>
            <a:off x="320040" y="4059936"/>
            <a:ext cx="2011680" cy="18288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111827"/>
                </a:solidFill>
              </a:rPr>
              <a:t>Prompt/model release gate</a:t>
            </a:r>
            <a:endParaRPr lang="en-US" sz="780" dirty="0"/>
          </a:p>
        </p:txBody>
      </p:sp>
      <p:sp>
        <p:nvSpPr>
          <p:cNvPr id="47" name="Text 45"/>
          <p:cNvSpPr/>
          <p:nvPr/>
        </p:nvSpPr>
        <p:spPr>
          <a:xfrm>
            <a:off x="2404872" y="4059936"/>
            <a:ext cx="3931920" cy="18288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374151"/>
                </a:solidFill>
              </a:rPr>
              <a:t>Try new summary prompt or GPT version</a:t>
            </a:r>
            <a:endParaRPr lang="en-US" sz="780" dirty="0"/>
          </a:p>
        </p:txBody>
      </p:sp>
      <p:sp>
        <p:nvSpPr>
          <p:cNvPr id="48" name="Text 46"/>
          <p:cNvSpPr/>
          <p:nvPr/>
        </p:nvSpPr>
        <p:spPr>
          <a:xfrm>
            <a:off x="6409944" y="4059936"/>
            <a:ext cx="5413248" cy="18288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374151"/>
                </a:solidFill>
              </a:rPr>
              <a:t>Experiment: v1=89%, v2=96% on same golden cases</a:t>
            </a:r>
            <a:endParaRPr lang="en-US" sz="780" dirty="0"/>
          </a:p>
        </p:txBody>
      </p:sp>
      <p:sp>
        <p:nvSpPr>
          <p:cNvPr id="49" name="Text 47"/>
          <p:cNvSpPr/>
          <p:nvPr/>
        </p:nvSpPr>
        <p:spPr>
          <a:xfrm>
            <a:off x="320040" y="4311396"/>
            <a:ext cx="2011680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111827"/>
                </a:solidFill>
              </a:rPr>
              <a:t>Retrieval relevance</a:t>
            </a:r>
            <a:endParaRPr lang="en-US" sz="780" dirty="0"/>
          </a:p>
        </p:txBody>
      </p:sp>
      <p:sp>
        <p:nvSpPr>
          <p:cNvPr id="50" name="Text 48"/>
          <p:cNvSpPr/>
          <p:nvPr/>
        </p:nvSpPr>
        <p:spPr>
          <a:xfrm>
            <a:off x="2404872" y="4311396"/>
            <a:ext cx="3931920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374151"/>
                </a:solidFill>
              </a:rPr>
              <a:t>Vector agent retrieves wrong member/source chunk</a:t>
            </a:r>
            <a:endParaRPr lang="en-US" sz="780" dirty="0"/>
          </a:p>
        </p:txBody>
      </p:sp>
      <p:sp>
        <p:nvSpPr>
          <p:cNvPr id="51" name="Text 49"/>
          <p:cNvSpPr/>
          <p:nvPr/>
        </p:nvSpPr>
        <p:spPr>
          <a:xfrm>
            <a:off x="6409944" y="4311396"/>
            <a:ext cx="541324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374151"/>
                </a:solidFill>
              </a:rPr>
              <a:t>retriever.score low; source_id mismatch; eval=relevance FAIL</a:t>
            </a:r>
            <a:endParaRPr lang="en-US" sz="780" dirty="0"/>
          </a:p>
        </p:txBody>
      </p:sp>
      <p:sp>
        <p:nvSpPr>
          <p:cNvPr id="52" name="Text 50"/>
          <p:cNvSpPr/>
          <p:nvPr/>
        </p:nvSpPr>
        <p:spPr>
          <a:xfrm>
            <a:off x="320040" y="4562856"/>
            <a:ext cx="2011680" cy="18288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111827"/>
                </a:solidFill>
              </a:rPr>
              <a:t>Recurring failures</a:t>
            </a:r>
            <a:endParaRPr lang="en-US" sz="780" dirty="0"/>
          </a:p>
        </p:txBody>
      </p:sp>
      <p:sp>
        <p:nvSpPr>
          <p:cNvPr id="53" name="Text 51"/>
          <p:cNvSpPr/>
          <p:nvPr/>
        </p:nvSpPr>
        <p:spPr>
          <a:xfrm>
            <a:off x="2404872" y="4562856"/>
            <a:ext cx="3931920" cy="18288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374151"/>
                </a:solidFill>
              </a:rPr>
              <a:t>Same question type keeps failing across cases</a:t>
            </a:r>
            <a:endParaRPr lang="en-US" sz="780" dirty="0"/>
          </a:p>
        </p:txBody>
      </p:sp>
      <p:sp>
        <p:nvSpPr>
          <p:cNvPr id="54" name="Text 52"/>
          <p:cNvSpPr/>
          <p:nvPr/>
        </p:nvSpPr>
        <p:spPr>
          <a:xfrm>
            <a:off x="6409944" y="4562856"/>
            <a:ext cx="5413248" cy="18288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374151"/>
                </a:solidFill>
              </a:rPr>
              <a:t>Signal cluster: “Q6D family-history false positives”</a:t>
            </a:r>
            <a:endParaRPr lang="en-US" sz="780" dirty="0"/>
          </a:p>
        </p:txBody>
      </p:sp>
      <p:sp>
        <p:nvSpPr>
          <p:cNvPr id="55" name="Text 53"/>
          <p:cNvSpPr/>
          <p:nvPr/>
        </p:nvSpPr>
        <p:spPr>
          <a:xfrm>
            <a:off x="320040" y="4814316"/>
            <a:ext cx="2011680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111827"/>
                </a:solidFill>
              </a:rPr>
              <a:t>Latency/cost</a:t>
            </a:r>
            <a:endParaRPr lang="en-US" sz="780" dirty="0"/>
          </a:p>
        </p:txBody>
      </p:sp>
      <p:sp>
        <p:nvSpPr>
          <p:cNvPr id="56" name="Text 54"/>
          <p:cNvSpPr/>
          <p:nvPr/>
        </p:nvSpPr>
        <p:spPr>
          <a:xfrm>
            <a:off x="2404872" y="4814316"/>
            <a:ext cx="3931920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374151"/>
                </a:solidFill>
              </a:rPr>
              <a:t>Summary takes too long or tokens spike</a:t>
            </a:r>
            <a:endParaRPr lang="en-US" sz="780" dirty="0"/>
          </a:p>
        </p:txBody>
      </p:sp>
      <p:sp>
        <p:nvSpPr>
          <p:cNvPr id="57" name="Text 55"/>
          <p:cNvSpPr/>
          <p:nvPr/>
        </p:nvSpPr>
        <p:spPr>
          <a:xfrm>
            <a:off x="6409944" y="4814316"/>
            <a:ext cx="541324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374151"/>
                </a:solidFill>
              </a:rPr>
              <a:t>Dashboard: p95 latency, LLM tokens, tool duration by agent</a:t>
            </a:r>
            <a:endParaRPr lang="en-US" sz="780" dirty="0"/>
          </a:p>
        </p:txBody>
      </p:sp>
      <p:sp>
        <p:nvSpPr>
          <p:cNvPr id="58" name="Text 56"/>
          <p:cNvSpPr/>
          <p:nvPr/>
        </p:nvSpPr>
        <p:spPr>
          <a:xfrm>
            <a:off x="320040" y="5065776"/>
            <a:ext cx="2011680" cy="18288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111827"/>
                </a:solidFill>
              </a:rPr>
              <a:t>PHI observability</a:t>
            </a:r>
            <a:endParaRPr lang="en-US" sz="780" dirty="0"/>
          </a:p>
        </p:txBody>
      </p:sp>
      <p:sp>
        <p:nvSpPr>
          <p:cNvPr id="59" name="Text 57"/>
          <p:cNvSpPr/>
          <p:nvPr/>
        </p:nvSpPr>
        <p:spPr>
          <a:xfrm>
            <a:off x="2404872" y="5065776"/>
            <a:ext cx="3931920" cy="18288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374151"/>
                </a:solidFill>
              </a:rPr>
              <a:t>Trace needs enough data to debug but no raw clinical text</a:t>
            </a:r>
            <a:endParaRPr lang="en-US" sz="780" dirty="0"/>
          </a:p>
        </p:txBody>
      </p:sp>
      <p:sp>
        <p:nvSpPr>
          <p:cNvPr id="60" name="Text 58"/>
          <p:cNvSpPr/>
          <p:nvPr/>
        </p:nvSpPr>
        <p:spPr>
          <a:xfrm>
            <a:off x="6409944" y="5065776"/>
            <a:ext cx="5413248" cy="18288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374151"/>
                </a:solidFill>
              </a:rPr>
              <a:t>claim_text_redacted; counts/source IDs only</a:t>
            </a:r>
            <a:endParaRPr lang="en-US" sz="780" dirty="0"/>
          </a:p>
        </p:txBody>
      </p:sp>
      <p:sp>
        <p:nvSpPr>
          <p:cNvPr id="61" name="Text 59"/>
          <p:cNvSpPr/>
          <p:nvPr/>
        </p:nvSpPr>
        <p:spPr>
          <a:xfrm>
            <a:off x="320040" y="5317236"/>
            <a:ext cx="2011680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111827"/>
                </a:solidFill>
              </a:rPr>
              <a:t>Human review feedback</a:t>
            </a:r>
            <a:endParaRPr lang="en-US" sz="780" dirty="0"/>
          </a:p>
        </p:txBody>
      </p:sp>
      <p:sp>
        <p:nvSpPr>
          <p:cNvPr id="62" name="Text 60"/>
          <p:cNvSpPr/>
          <p:nvPr/>
        </p:nvSpPr>
        <p:spPr>
          <a:xfrm>
            <a:off x="2404872" y="5317236"/>
            <a:ext cx="3931920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374151"/>
                </a:solidFill>
              </a:rPr>
              <a:t>Underwriter marks response as incorrect/needs review</a:t>
            </a:r>
            <a:endParaRPr lang="en-US" sz="780" dirty="0"/>
          </a:p>
        </p:txBody>
      </p:sp>
      <p:sp>
        <p:nvSpPr>
          <p:cNvPr id="63" name="Text 61"/>
          <p:cNvSpPr/>
          <p:nvPr/>
        </p:nvSpPr>
        <p:spPr>
          <a:xfrm>
            <a:off x="6409944" y="5317236"/>
            <a:ext cx="541324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374151"/>
                </a:solidFill>
              </a:rPr>
              <a:t>annotation label joined with evaluator scores</a:t>
            </a:r>
            <a:endParaRPr lang="en-US" sz="780" dirty="0"/>
          </a:p>
        </p:txBody>
      </p:sp>
      <p:sp>
        <p:nvSpPr>
          <p:cNvPr id="66" name="Text 64"/>
          <p:cNvSpPr/>
          <p:nvPr/>
        </p:nvSpPr>
        <p:spPr>
          <a:xfrm>
            <a:off x="320040" y="6391656"/>
            <a:ext cx="113842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1414</Words>
  <Application>Microsoft Office PowerPoint</Application>
  <PresentationFormat>Widescreen</PresentationFormat>
  <Paragraphs>177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Arize AX for UW AI Assist</dc:title>
  <dc:subject>Arize AX for UW AI Assist</dc:subject>
  <dc:creator>OpenAI</dc:creator>
  <cp:lastModifiedBy>Sadanand Katukuri</cp:lastModifiedBy>
  <cp:revision>3</cp:revision>
  <dcterms:created xsi:type="dcterms:W3CDTF">2026-09-08T21:43:25Z</dcterms:created>
  <dcterms:modified xsi:type="dcterms:W3CDTF">2026-09-08T23:18:50Z</dcterms:modified>
</cp:coreProperties>
</file>