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508586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4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46304"/>
            <a:ext cx="11521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AKS Architecture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320040" y="530352"/>
            <a:ext cx="11521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7B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business flow, same agents, same data sources. Foundry’s runtime, orchestration and deployment responsibilities move into AKS + ACR + Helm. Model access, AI Search and Document Intelligence are unchanged.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320040" y="841248"/>
            <a:ext cx="11548872" cy="475488"/>
          </a:xfrm>
          <a:prstGeom prst="roundRect">
            <a:avLst>
              <a:gd name="adj" fmla="val 9615"/>
            </a:avLst>
          </a:prstGeom>
          <a:solidFill>
            <a:srgbClr val="17203A"/>
          </a:solidFill>
          <a:ln w="12700">
            <a:solidFill>
              <a:srgbClr val="1720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29768" y="877824"/>
            <a:ext cx="11329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6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USER &amp; ENTRY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874520" y="905256"/>
            <a:ext cx="2743200" cy="347472"/>
          </a:xfrm>
          <a:prstGeom prst="roundRect">
            <a:avLst>
              <a:gd name="adj" fmla="val 1052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901952" y="905256"/>
            <a:ext cx="2688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Salesforce UW Workbench</a:t>
            </a:r>
            <a:endParaRPr lang="en-US" sz="680" dirty="0"/>
          </a:p>
          <a:p>
            <a:pPr marL="0" indent="0" algn="ctr">
              <a:buNone/>
            </a:pPr>
            <a:r>
              <a:rPr lang="en-US" sz="68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(existing UI, unchanged)</a:t>
            </a:r>
            <a:endParaRPr lang="en-US" sz="680" dirty="0"/>
          </a:p>
        </p:txBody>
      </p:sp>
      <p:sp>
        <p:nvSpPr>
          <p:cNvPr id="8" name="Shape 6"/>
          <p:cNvSpPr/>
          <p:nvPr/>
        </p:nvSpPr>
        <p:spPr>
          <a:xfrm>
            <a:off x="4727448" y="905256"/>
            <a:ext cx="1828800" cy="347472"/>
          </a:xfrm>
          <a:prstGeom prst="roundRect">
            <a:avLst>
              <a:gd name="adj" fmla="val 10526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754880" y="905256"/>
            <a:ext cx="1773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 Door + WAF</a:t>
            </a:r>
            <a:endParaRPr lang="en-US" sz="680" dirty="0"/>
          </a:p>
        </p:txBody>
      </p:sp>
      <p:sp>
        <p:nvSpPr>
          <p:cNvPr id="10" name="Shape 8"/>
          <p:cNvSpPr/>
          <p:nvPr/>
        </p:nvSpPr>
        <p:spPr>
          <a:xfrm>
            <a:off x="6665976" y="905256"/>
            <a:ext cx="2103120" cy="347472"/>
          </a:xfrm>
          <a:prstGeom prst="roundRect">
            <a:avLst>
              <a:gd name="adj" fmla="val 10526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693408" y="905256"/>
            <a:ext cx="20482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Management</a:t>
            </a:r>
            <a:endParaRPr lang="en-US" sz="680" dirty="0"/>
          </a:p>
          <a:p>
            <a:pPr marL="0" indent="0" algn="ctr">
              <a:buNone/>
            </a:pPr>
            <a:r>
              <a:rPr lang="en-US" sz="68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 limit · quota</a:t>
            </a:r>
            <a:endParaRPr lang="en-US" sz="680" dirty="0"/>
          </a:p>
        </p:txBody>
      </p:sp>
      <p:sp>
        <p:nvSpPr>
          <p:cNvPr id="12" name="Shape 10"/>
          <p:cNvSpPr/>
          <p:nvPr/>
        </p:nvSpPr>
        <p:spPr>
          <a:xfrm>
            <a:off x="8878824" y="905256"/>
            <a:ext cx="2377440" cy="347472"/>
          </a:xfrm>
          <a:prstGeom prst="roundRect">
            <a:avLst>
              <a:gd name="adj" fmla="val 10526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906256" y="905256"/>
            <a:ext cx="2322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Entra ID</a:t>
            </a:r>
            <a:endParaRPr lang="en-US" sz="680" dirty="0"/>
          </a:p>
          <a:p>
            <a:pPr marL="0" indent="0" algn="ctr">
              <a:buNone/>
            </a:pPr>
            <a:r>
              <a:rPr lang="en-US" sz="68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OAuth2 / OBO token</a:t>
            </a:r>
            <a:endParaRPr lang="en-US" sz="680" dirty="0"/>
          </a:p>
        </p:txBody>
      </p:sp>
      <p:sp>
        <p:nvSpPr>
          <p:cNvPr id="14" name="Shape 12"/>
          <p:cNvSpPr/>
          <p:nvPr/>
        </p:nvSpPr>
        <p:spPr>
          <a:xfrm>
            <a:off x="6089904" y="1316736"/>
            <a:ext cx="0" cy="146304"/>
          </a:xfrm>
          <a:prstGeom prst="line">
            <a:avLst/>
          </a:prstGeom>
          <a:noFill/>
          <a:ln w="19050">
            <a:solidFill>
              <a:srgbClr val="0EA5E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20040" y="1481328"/>
            <a:ext cx="11548872" cy="420624"/>
          </a:xfrm>
          <a:prstGeom prst="roundRect">
            <a:avLst>
              <a:gd name="adj" fmla="val 10870"/>
            </a:avLst>
          </a:prstGeom>
          <a:solidFill>
            <a:srgbClr val="D93A3A"/>
          </a:solidFill>
          <a:ln w="12700">
            <a:solidFill>
              <a:srgbClr val="D9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29768" y="1517904"/>
            <a:ext cx="11329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6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INPUT GUARDRAILS  (AKS pod — replaces Foundry Guardrails on the request path)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1700784"/>
            <a:ext cx="1856232" cy="173736"/>
          </a:xfrm>
          <a:prstGeom prst="roundRect">
            <a:avLst>
              <a:gd name="adj" fmla="val 21053"/>
            </a:avLst>
          </a:prstGeom>
          <a:solidFill>
            <a:srgbClr val="0D1424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84632" y="1700784"/>
            <a:ext cx="18013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AuthN / AuthZ</a:t>
            </a:r>
            <a:endParaRPr lang="en-US" sz="630" dirty="0"/>
          </a:p>
        </p:txBody>
      </p:sp>
      <p:sp>
        <p:nvSpPr>
          <p:cNvPr id="19" name="Shape 17"/>
          <p:cNvSpPr/>
          <p:nvPr/>
        </p:nvSpPr>
        <p:spPr>
          <a:xfrm>
            <a:off x="2368296" y="1700784"/>
            <a:ext cx="1856232" cy="173736"/>
          </a:xfrm>
          <a:prstGeom prst="roundRect">
            <a:avLst>
              <a:gd name="adj" fmla="val 21053"/>
            </a:avLst>
          </a:prstGeom>
          <a:solidFill>
            <a:srgbClr val="0D1424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395728" y="1700784"/>
            <a:ext cx="18013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Member-scope check (OBO)</a:t>
            </a:r>
            <a:endParaRPr lang="en-US" sz="630" dirty="0"/>
          </a:p>
        </p:txBody>
      </p:sp>
      <p:sp>
        <p:nvSpPr>
          <p:cNvPr id="21" name="Shape 19"/>
          <p:cNvSpPr/>
          <p:nvPr/>
        </p:nvSpPr>
        <p:spPr>
          <a:xfrm>
            <a:off x="4279392" y="1700784"/>
            <a:ext cx="1856232" cy="173736"/>
          </a:xfrm>
          <a:prstGeom prst="roundRect">
            <a:avLst>
              <a:gd name="adj" fmla="val 21053"/>
            </a:avLst>
          </a:prstGeom>
          <a:solidFill>
            <a:srgbClr val="0D1424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306824" y="1700784"/>
            <a:ext cx="18013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 validation</a:t>
            </a:r>
            <a:endParaRPr lang="en-US" sz="630" dirty="0"/>
          </a:p>
        </p:txBody>
      </p:sp>
      <p:sp>
        <p:nvSpPr>
          <p:cNvPr id="23" name="Shape 21"/>
          <p:cNvSpPr/>
          <p:nvPr/>
        </p:nvSpPr>
        <p:spPr>
          <a:xfrm>
            <a:off x="6190488" y="1700784"/>
            <a:ext cx="1856232" cy="173736"/>
          </a:xfrm>
          <a:prstGeom prst="roundRect">
            <a:avLst>
              <a:gd name="adj" fmla="val 21053"/>
            </a:avLst>
          </a:prstGeom>
          <a:solidFill>
            <a:srgbClr val="0D1424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217920" y="1700784"/>
            <a:ext cx="18013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PHI / PII scan</a:t>
            </a:r>
            <a:endParaRPr lang="en-US" sz="630" dirty="0"/>
          </a:p>
        </p:txBody>
      </p:sp>
      <p:sp>
        <p:nvSpPr>
          <p:cNvPr id="25" name="Shape 23"/>
          <p:cNvSpPr/>
          <p:nvPr/>
        </p:nvSpPr>
        <p:spPr>
          <a:xfrm>
            <a:off x="8101584" y="1700784"/>
            <a:ext cx="1856232" cy="173736"/>
          </a:xfrm>
          <a:prstGeom prst="roundRect">
            <a:avLst>
              <a:gd name="adj" fmla="val 21053"/>
            </a:avLst>
          </a:prstGeom>
          <a:solidFill>
            <a:srgbClr val="0D1424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8129016" y="1700784"/>
            <a:ext cx="18013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Prompt-injection screen</a:t>
            </a:r>
            <a:endParaRPr lang="en-US" sz="630" dirty="0"/>
          </a:p>
        </p:txBody>
      </p:sp>
      <p:sp>
        <p:nvSpPr>
          <p:cNvPr id="27" name="Shape 25"/>
          <p:cNvSpPr/>
          <p:nvPr/>
        </p:nvSpPr>
        <p:spPr>
          <a:xfrm>
            <a:off x="10012680" y="1700784"/>
            <a:ext cx="1856232" cy="173736"/>
          </a:xfrm>
          <a:prstGeom prst="roundRect">
            <a:avLst>
              <a:gd name="adj" fmla="val 21053"/>
            </a:avLst>
          </a:prstGeom>
          <a:solidFill>
            <a:srgbClr val="0D1424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10040112" y="1700784"/>
            <a:ext cx="18013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check · deny-by-default</a:t>
            </a:r>
            <a:endParaRPr lang="en-US" sz="630" dirty="0"/>
          </a:p>
        </p:txBody>
      </p:sp>
      <p:sp>
        <p:nvSpPr>
          <p:cNvPr id="29" name="Shape 27"/>
          <p:cNvSpPr/>
          <p:nvPr/>
        </p:nvSpPr>
        <p:spPr>
          <a:xfrm>
            <a:off x="6089904" y="1901952"/>
            <a:ext cx="0" cy="146304"/>
          </a:xfrm>
          <a:prstGeom prst="line">
            <a:avLst/>
          </a:prstGeom>
          <a:noFill/>
          <a:ln w="19050">
            <a:solidFill>
              <a:srgbClr val="D93A3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320040" y="2066544"/>
            <a:ext cx="5806440" cy="2103120"/>
          </a:xfrm>
          <a:prstGeom prst="roundRect">
            <a:avLst>
              <a:gd name="adj" fmla="val 2174"/>
            </a:avLst>
          </a:prstGeom>
          <a:solidFill>
            <a:srgbClr val="17203A"/>
          </a:solidFill>
          <a:ln w="12700">
            <a:solidFill>
              <a:srgbClr val="7C4D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29768" y="2103120"/>
            <a:ext cx="55869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6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RUNS INSIDE AKS  (Linux node pools · zone-redundant · HPA)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29768" y="2267712"/>
            <a:ext cx="5577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i="1" dirty="0">
                <a:solidFill>
                  <a:srgbClr val="A7B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tier — containerised, versioned, Helm-deployed</a:t>
            </a:r>
            <a:endParaRPr lang="en-US" sz="650" dirty="0"/>
          </a:p>
        </p:txBody>
      </p:sp>
      <p:sp>
        <p:nvSpPr>
          <p:cNvPr id="33" name="Shape 31"/>
          <p:cNvSpPr/>
          <p:nvPr/>
        </p:nvSpPr>
        <p:spPr>
          <a:xfrm>
            <a:off x="429768" y="2468880"/>
            <a:ext cx="5586984" cy="256032"/>
          </a:xfrm>
          <a:prstGeom prst="roundRect">
            <a:avLst>
              <a:gd name="adj" fmla="val 14286"/>
            </a:avLst>
          </a:prstGeom>
          <a:solidFill>
            <a:srgbClr val="7C4DDA"/>
          </a:solidFill>
          <a:ln w="12700">
            <a:solidFill>
              <a:srgbClr val="7C4D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57200" y="2468880"/>
            <a:ext cx="5532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API  (FastAPI)  ·  session / conversation service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429768" y="2770632"/>
            <a:ext cx="5586984" cy="256032"/>
          </a:xfrm>
          <a:prstGeom prst="roundRect">
            <a:avLst>
              <a:gd name="adj" fmla="val 14286"/>
            </a:avLst>
          </a:prstGeom>
          <a:solidFill>
            <a:srgbClr val="7C4DDA"/>
          </a:solidFill>
          <a:ln w="12700">
            <a:solidFill>
              <a:srgbClr val="7C4D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57200" y="2770632"/>
            <a:ext cx="5532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Orchestrator Agent  (LangGraph state machine)  —  Q&amp;A workflow  |  Summary workflow</a:t>
            </a:r>
            <a:endParaRPr lang="en-US" sz="680" dirty="0"/>
          </a:p>
        </p:txBody>
      </p:sp>
      <p:sp>
        <p:nvSpPr>
          <p:cNvPr id="37" name="Shape 35"/>
          <p:cNvSpPr/>
          <p:nvPr/>
        </p:nvSpPr>
        <p:spPr>
          <a:xfrm>
            <a:off x="429768" y="3072384"/>
            <a:ext cx="1810512" cy="246888"/>
          </a:xfrm>
          <a:prstGeom prst="roundRect">
            <a:avLst>
              <a:gd name="adj" fmla="val 14815"/>
            </a:avLst>
          </a:prstGeom>
          <a:solidFill>
            <a:srgbClr val="0D1424"/>
          </a:solidFill>
          <a:ln w="12700">
            <a:solidFill>
              <a:srgbClr val="7C4D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57200" y="3072384"/>
            <a:ext cx="17556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Intent Agent</a:t>
            </a:r>
            <a:endParaRPr lang="en-US" sz="680" dirty="0"/>
          </a:p>
        </p:txBody>
      </p:sp>
      <p:sp>
        <p:nvSpPr>
          <p:cNvPr id="39" name="Shape 37"/>
          <p:cNvSpPr/>
          <p:nvPr/>
        </p:nvSpPr>
        <p:spPr>
          <a:xfrm>
            <a:off x="2295144" y="3072384"/>
            <a:ext cx="1810512" cy="246888"/>
          </a:xfrm>
          <a:prstGeom prst="roundRect">
            <a:avLst>
              <a:gd name="adj" fmla="val 14815"/>
            </a:avLst>
          </a:prstGeom>
          <a:solidFill>
            <a:srgbClr val="0D1424"/>
          </a:solidFill>
          <a:ln w="12700">
            <a:solidFill>
              <a:srgbClr val="7C4D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2322576" y="3072384"/>
            <a:ext cx="17556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DB Agent</a:t>
            </a:r>
            <a:endParaRPr lang="en-US" sz="680" dirty="0"/>
          </a:p>
        </p:txBody>
      </p:sp>
      <p:sp>
        <p:nvSpPr>
          <p:cNvPr id="41" name="Shape 39"/>
          <p:cNvSpPr/>
          <p:nvPr/>
        </p:nvSpPr>
        <p:spPr>
          <a:xfrm>
            <a:off x="4160520" y="3072384"/>
            <a:ext cx="1810512" cy="246888"/>
          </a:xfrm>
          <a:prstGeom prst="roundRect">
            <a:avLst>
              <a:gd name="adj" fmla="val 14815"/>
            </a:avLst>
          </a:prstGeom>
          <a:solidFill>
            <a:srgbClr val="0D1424"/>
          </a:solidFill>
          <a:ln w="12700">
            <a:solidFill>
              <a:srgbClr val="7C4D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187952" y="3072384"/>
            <a:ext cx="17556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Agent</a:t>
            </a:r>
            <a:endParaRPr lang="en-US" sz="680" dirty="0"/>
          </a:p>
        </p:txBody>
      </p:sp>
      <p:sp>
        <p:nvSpPr>
          <p:cNvPr id="43" name="Shape 41"/>
          <p:cNvSpPr/>
          <p:nvPr/>
        </p:nvSpPr>
        <p:spPr>
          <a:xfrm>
            <a:off x="429768" y="3364992"/>
            <a:ext cx="1810512" cy="246888"/>
          </a:xfrm>
          <a:prstGeom prst="roundRect">
            <a:avLst>
              <a:gd name="adj" fmla="val 14815"/>
            </a:avLst>
          </a:prstGeom>
          <a:solidFill>
            <a:srgbClr val="0D1424"/>
          </a:solidFill>
          <a:ln w="12700">
            <a:solidFill>
              <a:srgbClr val="7C4D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457200" y="3364992"/>
            <a:ext cx="17556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Chatbot Agent</a:t>
            </a:r>
            <a:endParaRPr lang="en-US" sz="680" dirty="0"/>
          </a:p>
        </p:txBody>
      </p:sp>
      <p:sp>
        <p:nvSpPr>
          <p:cNvPr id="45" name="Shape 43"/>
          <p:cNvSpPr/>
          <p:nvPr/>
        </p:nvSpPr>
        <p:spPr>
          <a:xfrm>
            <a:off x="2295144" y="3364992"/>
            <a:ext cx="1810512" cy="246888"/>
          </a:xfrm>
          <a:prstGeom prst="roundRect">
            <a:avLst>
              <a:gd name="adj" fmla="val 14815"/>
            </a:avLst>
          </a:prstGeom>
          <a:solidFill>
            <a:srgbClr val="0D1424"/>
          </a:solidFill>
          <a:ln w="12700">
            <a:solidFill>
              <a:srgbClr val="7C4D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2322576" y="3364992"/>
            <a:ext cx="17556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 Agent</a:t>
            </a:r>
            <a:endParaRPr lang="en-US" sz="680" dirty="0"/>
          </a:p>
        </p:txBody>
      </p:sp>
      <p:sp>
        <p:nvSpPr>
          <p:cNvPr id="47" name="Shape 45"/>
          <p:cNvSpPr/>
          <p:nvPr/>
        </p:nvSpPr>
        <p:spPr>
          <a:xfrm>
            <a:off x="4160520" y="3364992"/>
            <a:ext cx="1810512" cy="246888"/>
          </a:xfrm>
          <a:prstGeom prst="roundRect">
            <a:avLst>
              <a:gd name="adj" fmla="val 14815"/>
            </a:avLst>
          </a:prstGeom>
          <a:solidFill>
            <a:srgbClr val="0D1424"/>
          </a:solidFill>
          <a:ln w="12700">
            <a:solidFill>
              <a:srgbClr val="7C4D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4187952" y="3364992"/>
            <a:ext cx="17556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Extractors (2)</a:t>
            </a:r>
            <a:endParaRPr lang="en-US" sz="680" dirty="0"/>
          </a:p>
        </p:txBody>
      </p:sp>
      <p:sp>
        <p:nvSpPr>
          <p:cNvPr id="49" name="Shape 47"/>
          <p:cNvSpPr/>
          <p:nvPr/>
        </p:nvSpPr>
        <p:spPr>
          <a:xfrm>
            <a:off x="429768" y="3675888"/>
            <a:ext cx="2724912" cy="228600"/>
          </a:xfrm>
          <a:prstGeom prst="roundRect">
            <a:avLst>
              <a:gd name="adj" fmla="val 16000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457200" y="3675888"/>
            <a:ext cx="2670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Rules Engine (lookback)</a:t>
            </a:r>
            <a:endParaRPr lang="en-US" sz="650" dirty="0"/>
          </a:p>
        </p:txBody>
      </p:sp>
      <p:sp>
        <p:nvSpPr>
          <p:cNvPr id="51" name="Shape 49"/>
          <p:cNvSpPr/>
          <p:nvPr/>
        </p:nvSpPr>
        <p:spPr>
          <a:xfrm>
            <a:off x="3291840" y="3675888"/>
            <a:ext cx="2724912" cy="228600"/>
          </a:xfrm>
          <a:prstGeom prst="roundRect">
            <a:avLst>
              <a:gd name="adj" fmla="val 16000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3319272" y="3675888"/>
            <a:ext cx="2670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Tool-integration services (per source)</a:t>
            </a:r>
            <a:endParaRPr lang="en-US" sz="650" dirty="0"/>
          </a:p>
        </p:txBody>
      </p:sp>
      <p:sp>
        <p:nvSpPr>
          <p:cNvPr id="53" name="Shape 51"/>
          <p:cNvSpPr/>
          <p:nvPr/>
        </p:nvSpPr>
        <p:spPr>
          <a:xfrm>
            <a:off x="429768" y="3931920"/>
            <a:ext cx="2724912" cy="201168"/>
          </a:xfrm>
          <a:prstGeom prst="roundRect">
            <a:avLst>
              <a:gd name="adj" fmla="val 18182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457200" y="3931920"/>
            <a:ext cx="2670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 worker — Summary workflow (CronJob)</a:t>
            </a:r>
            <a:endParaRPr lang="en-US" sz="630" dirty="0"/>
          </a:p>
        </p:txBody>
      </p:sp>
      <p:sp>
        <p:nvSpPr>
          <p:cNvPr id="55" name="Shape 53"/>
          <p:cNvSpPr/>
          <p:nvPr/>
        </p:nvSpPr>
        <p:spPr>
          <a:xfrm>
            <a:off x="3291840" y="3931920"/>
            <a:ext cx="2724912" cy="201168"/>
          </a:xfrm>
          <a:prstGeom prst="roundRect">
            <a:avLst>
              <a:gd name="adj" fmla="val 18182"/>
            </a:avLst>
          </a:prstGeom>
          <a:solidFill>
            <a:srgbClr val="D93A3A"/>
          </a:solidFill>
          <a:ln w="12700">
            <a:solidFill>
              <a:srgbClr val="D9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3319272" y="3931920"/>
            <a:ext cx="2670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Medical QA Verifier + Guardrail validators</a:t>
            </a:r>
            <a:endParaRPr lang="en-US" sz="630" dirty="0"/>
          </a:p>
        </p:txBody>
      </p:sp>
      <p:sp>
        <p:nvSpPr>
          <p:cNvPr id="57" name="Shape 55"/>
          <p:cNvSpPr/>
          <p:nvPr/>
        </p:nvSpPr>
        <p:spPr>
          <a:xfrm>
            <a:off x="6236208" y="2066544"/>
            <a:ext cx="2697480" cy="2103120"/>
          </a:xfrm>
          <a:prstGeom prst="roundRect">
            <a:avLst>
              <a:gd name="adj" fmla="val 2174"/>
            </a:avLst>
          </a:prstGeom>
          <a:solidFill>
            <a:srgbClr val="17203A"/>
          </a:solidFill>
          <a:ln w="12700">
            <a:solidFill>
              <a:srgbClr val="2F6F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6345936" y="2103120"/>
            <a:ext cx="2478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6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· MANAGED AZURE (outside AKS)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6345936" y="2322576"/>
            <a:ext cx="2478024" cy="196596"/>
          </a:xfrm>
          <a:prstGeom prst="roundRect">
            <a:avLst>
              <a:gd name="adj" fmla="val 18605"/>
            </a:avLst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6373368" y="2322576"/>
            <a:ext cx="242316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AI Search — RAG index</a:t>
            </a:r>
            <a:endParaRPr lang="en-US" sz="640" dirty="0"/>
          </a:p>
        </p:txBody>
      </p:sp>
      <p:sp>
        <p:nvSpPr>
          <p:cNvPr id="61" name="Shape 59"/>
          <p:cNvSpPr/>
          <p:nvPr/>
        </p:nvSpPr>
        <p:spPr>
          <a:xfrm>
            <a:off x="6345936" y="2552090"/>
            <a:ext cx="2478024" cy="196596"/>
          </a:xfrm>
          <a:prstGeom prst="roundRect">
            <a:avLst>
              <a:gd name="adj" fmla="val 18605"/>
            </a:avLst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6373368" y="2552090"/>
            <a:ext cx="242316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Document Intelligence</a:t>
            </a:r>
            <a:endParaRPr lang="en-US" sz="640" dirty="0"/>
          </a:p>
        </p:txBody>
      </p:sp>
      <p:sp>
        <p:nvSpPr>
          <p:cNvPr id="63" name="Shape 61"/>
          <p:cNvSpPr/>
          <p:nvPr/>
        </p:nvSpPr>
        <p:spPr>
          <a:xfrm>
            <a:off x="6345936" y="2781605"/>
            <a:ext cx="2478024" cy="196596"/>
          </a:xfrm>
          <a:prstGeom prst="roundRect">
            <a:avLst>
              <a:gd name="adj" fmla="val 18605"/>
            </a:avLst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6373368" y="2781605"/>
            <a:ext cx="242316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+ pgvector *</a:t>
            </a:r>
            <a:endParaRPr lang="en-US" sz="640" dirty="0"/>
          </a:p>
        </p:txBody>
      </p:sp>
      <p:sp>
        <p:nvSpPr>
          <p:cNvPr id="65" name="Shape 63"/>
          <p:cNvSpPr/>
          <p:nvPr/>
        </p:nvSpPr>
        <p:spPr>
          <a:xfrm>
            <a:off x="6345936" y="3011119"/>
            <a:ext cx="2478024" cy="196596"/>
          </a:xfrm>
          <a:prstGeom prst="roundRect">
            <a:avLst>
              <a:gd name="adj" fmla="val 18605"/>
            </a:avLst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6373368" y="3011119"/>
            <a:ext cx="242316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Key Vault — secrets</a:t>
            </a:r>
            <a:endParaRPr lang="en-US" sz="640" dirty="0"/>
          </a:p>
        </p:txBody>
      </p:sp>
      <p:sp>
        <p:nvSpPr>
          <p:cNvPr id="67" name="Shape 65"/>
          <p:cNvSpPr/>
          <p:nvPr/>
        </p:nvSpPr>
        <p:spPr>
          <a:xfrm>
            <a:off x="6345936" y="3240634"/>
            <a:ext cx="2478024" cy="196596"/>
          </a:xfrm>
          <a:prstGeom prst="roundRect">
            <a:avLst>
              <a:gd name="adj" fmla="val 18605"/>
            </a:avLst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6373368" y="3240634"/>
            <a:ext cx="242316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Configuration — per-env</a:t>
            </a:r>
            <a:endParaRPr lang="en-US" sz="640" dirty="0"/>
          </a:p>
        </p:txBody>
      </p:sp>
      <p:sp>
        <p:nvSpPr>
          <p:cNvPr id="69" name="Shape 67"/>
          <p:cNvSpPr/>
          <p:nvPr/>
        </p:nvSpPr>
        <p:spPr>
          <a:xfrm>
            <a:off x="6345936" y="3470148"/>
            <a:ext cx="2478024" cy="196596"/>
          </a:xfrm>
          <a:prstGeom prst="roundRect">
            <a:avLst>
              <a:gd name="adj" fmla="val 18605"/>
            </a:avLst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6373368" y="3470148"/>
            <a:ext cx="242316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Blob Storage — docs / artifacts</a:t>
            </a:r>
            <a:endParaRPr lang="en-US" sz="640" dirty="0"/>
          </a:p>
        </p:txBody>
      </p:sp>
      <p:sp>
        <p:nvSpPr>
          <p:cNvPr id="71" name="Shape 69"/>
          <p:cNvSpPr/>
          <p:nvPr/>
        </p:nvSpPr>
        <p:spPr>
          <a:xfrm>
            <a:off x="6345936" y="3699662"/>
            <a:ext cx="2478024" cy="196596"/>
          </a:xfrm>
          <a:prstGeom prst="roundRect">
            <a:avLst>
              <a:gd name="adj" fmla="val 18605"/>
            </a:avLst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70"/>
          <p:cNvSpPr/>
          <p:nvPr/>
        </p:nvSpPr>
        <p:spPr>
          <a:xfrm>
            <a:off x="6373368" y="3699662"/>
            <a:ext cx="242316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Monitor + Log Analytics</a:t>
            </a:r>
            <a:endParaRPr lang="en-US" sz="640" dirty="0"/>
          </a:p>
        </p:txBody>
      </p:sp>
      <p:sp>
        <p:nvSpPr>
          <p:cNvPr id="73" name="Text 71"/>
          <p:cNvSpPr/>
          <p:nvPr/>
        </p:nvSpPr>
        <p:spPr>
          <a:xfrm>
            <a:off x="6345936" y="3959352"/>
            <a:ext cx="24780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i="1" dirty="0">
                <a:solidFill>
                  <a:srgbClr val="A7B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POC data layer — retain or migrate to AI Search (open item)</a:t>
            </a:r>
            <a:endParaRPr lang="en-US" sz="600" dirty="0"/>
          </a:p>
        </p:txBody>
      </p:sp>
      <p:sp>
        <p:nvSpPr>
          <p:cNvPr id="74" name="Shape 72"/>
          <p:cNvSpPr/>
          <p:nvPr/>
        </p:nvSpPr>
        <p:spPr>
          <a:xfrm>
            <a:off x="9043416" y="2066544"/>
            <a:ext cx="2825496" cy="2103120"/>
          </a:xfrm>
          <a:prstGeom prst="roundRect">
            <a:avLst>
              <a:gd name="adj" fmla="val 2174"/>
            </a:avLst>
          </a:prstGeom>
          <a:solidFill>
            <a:srgbClr val="17203A"/>
          </a:solidFill>
          <a:ln w="12700">
            <a:solidFill>
              <a:srgbClr val="C275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 73"/>
          <p:cNvSpPr/>
          <p:nvPr/>
        </p:nvSpPr>
        <p:spPr>
          <a:xfrm>
            <a:off x="9153144" y="2103120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6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· ENTERPRISE SYSTEMS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9153144" y="2322576"/>
            <a:ext cx="2606040" cy="301752"/>
          </a:xfrm>
          <a:prstGeom prst="roundRect">
            <a:avLst>
              <a:gd name="adj" fmla="val 12121"/>
            </a:avLst>
          </a:prstGeom>
          <a:solidFill>
            <a:srgbClr val="C2751C"/>
          </a:solidFill>
          <a:ln w="12700">
            <a:solidFill>
              <a:srgbClr val="C275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Text 75"/>
          <p:cNvSpPr/>
          <p:nvPr/>
        </p:nvSpPr>
        <p:spPr>
          <a:xfrm>
            <a:off x="9180576" y="2322576"/>
            <a:ext cx="255117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Optum LLM Gateway  →  gpt-5</a:t>
            </a:r>
            <a:endParaRPr lang="en-US" sz="620" dirty="0"/>
          </a:p>
          <a:p>
            <a:pPr marL="0" indent="0" algn="ctr">
              <a:buNone/>
            </a:pPr>
            <a:r>
              <a:rPr lang="en-US" sz="6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(OAuth2 client_credentials)</a:t>
            </a:r>
            <a:endParaRPr lang="en-US" sz="620" dirty="0"/>
          </a:p>
        </p:txBody>
      </p:sp>
      <p:sp>
        <p:nvSpPr>
          <p:cNvPr id="78" name="Shape 76"/>
          <p:cNvSpPr/>
          <p:nvPr/>
        </p:nvSpPr>
        <p:spPr>
          <a:xfrm>
            <a:off x="9153144" y="2647188"/>
            <a:ext cx="2606040" cy="301752"/>
          </a:xfrm>
          <a:prstGeom prst="roundRect">
            <a:avLst>
              <a:gd name="adj" fmla="val 12121"/>
            </a:avLst>
          </a:prstGeom>
          <a:solidFill>
            <a:srgbClr val="C2751C"/>
          </a:solidFill>
          <a:ln w="12700">
            <a:solidFill>
              <a:srgbClr val="C275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Text 77"/>
          <p:cNvSpPr/>
          <p:nvPr/>
        </p:nvSpPr>
        <p:spPr>
          <a:xfrm>
            <a:off x="9180576" y="2647188"/>
            <a:ext cx="255117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MuleSoft REST APIs (~31)</a:t>
            </a:r>
            <a:endParaRPr lang="en-US" sz="620" dirty="0"/>
          </a:p>
          <a:p>
            <a:pPr marL="0" indent="0" algn="ctr">
              <a:buNone/>
            </a:pPr>
            <a:r>
              <a:rPr lang="en-US" sz="6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 / Stage / Prod base URLs</a:t>
            </a:r>
            <a:endParaRPr lang="en-US" sz="620" dirty="0"/>
          </a:p>
        </p:txBody>
      </p:sp>
      <p:sp>
        <p:nvSpPr>
          <p:cNvPr id="80" name="Shape 78"/>
          <p:cNvSpPr/>
          <p:nvPr/>
        </p:nvSpPr>
        <p:spPr>
          <a:xfrm>
            <a:off x="9153144" y="2971800"/>
            <a:ext cx="2606040" cy="301752"/>
          </a:xfrm>
          <a:prstGeom prst="roundRect">
            <a:avLst>
              <a:gd name="adj" fmla="val 12121"/>
            </a:avLst>
          </a:prstGeom>
          <a:solidFill>
            <a:srgbClr val="C2751C"/>
          </a:solidFill>
          <a:ln w="12700">
            <a:solidFill>
              <a:srgbClr val="C275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Text 79"/>
          <p:cNvSpPr/>
          <p:nvPr/>
        </p:nvSpPr>
        <p:spPr>
          <a:xfrm>
            <a:off x="9180576" y="2971800"/>
            <a:ext cx="255117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Snowflake Cortex + MCP server</a:t>
            </a:r>
            <a:endParaRPr lang="en-US" sz="620" dirty="0"/>
          </a:p>
        </p:txBody>
      </p:sp>
      <p:sp>
        <p:nvSpPr>
          <p:cNvPr id="82" name="Shape 80"/>
          <p:cNvSpPr/>
          <p:nvPr/>
        </p:nvSpPr>
        <p:spPr>
          <a:xfrm>
            <a:off x="9153144" y="3296412"/>
            <a:ext cx="2606040" cy="301752"/>
          </a:xfrm>
          <a:prstGeom prst="roundRect">
            <a:avLst>
              <a:gd name="adj" fmla="val 12121"/>
            </a:avLst>
          </a:prstGeom>
          <a:solidFill>
            <a:srgbClr val="C2751C"/>
          </a:solidFill>
          <a:ln w="12700">
            <a:solidFill>
              <a:srgbClr val="C275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Text 81"/>
          <p:cNvSpPr/>
          <p:nvPr/>
        </p:nvSpPr>
        <p:spPr>
          <a:xfrm>
            <a:off x="9180576" y="3296412"/>
            <a:ext cx="255117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Salesforce REST — live case data</a:t>
            </a:r>
            <a:endParaRPr lang="en-US" sz="620" dirty="0"/>
          </a:p>
        </p:txBody>
      </p:sp>
      <p:sp>
        <p:nvSpPr>
          <p:cNvPr id="84" name="Shape 82"/>
          <p:cNvSpPr/>
          <p:nvPr/>
        </p:nvSpPr>
        <p:spPr>
          <a:xfrm>
            <a:off x="9153144" y="3621024"/>
            <a:ext cx="2606040" cy="301752"/>
          </a:xfrm>
          <a:prstGeom prst="roundRect">
            <a:avLst>
              <a:gd name="adj" fmla="val 12121"/>
            </a:avLst>
          </a:prstGeom>
          <a:solidFill>
            <a:srgbClr val="C2751C"/>
          </a:solidFill>
          <a:ln w="12700">
            <a:solidFill>
              <a:srgbClr val="C275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Text 83"/>
          <p:cNvSpPr/>
          <p:nvPr/>
        </p:nvSpPr>
        <p:spPr>
          <a:xfrm>
            <a:off x="9180576" y="3621024"/>
            <a:ext cx="255117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COMPAS · ISDC · PCH · IRIX</a:t>
            </a:r>
            <a:endParaRPr lang="en-US" sz="620" dirty="0"/>
          </a:p>
          <a:p>
            <a:pPr marL="0" indent="0" algn="ctr">
              <a:buNone/>
            </a:pPr>
            <a:r>
              <a:rPr lang="en-US" sz="6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UWWB · IS-CRM · Doc360</a:t>
            </a:r>
            <a:endParaRPr lang="en-US" sz="620" dirty="0"/>
          </a:p>
        </p:txBody>
      </p:sp>
      <p:sp>
        <p:nvSpPr>
          <p:cNvPr id="86" name="Text 84"/>
          <p:cNvSpPr/>
          <p:nvPr/>
        </p:nvSpPr>
        <p:spPr>
          <a:xfrm>
            <a:off x="9153144" y="3959352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i="1" dirty="0">
                <a:solidFill>
                  <a:srgbClr val="A7B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access is via the Optum Gateway — independent of Foundry</a:t>
            </a:r>
            <a:endParaRPr lang="en-US" sz="600" dirty="0"/>
          </a:p>
        </p:txBody>
      </p:sp>
      <p:sp>
        <p:nvSpPr>
          <p:cNvPr id="87" name="Shape 85"/>
          <p:cNvSpPr/>
          <p:nvPr/>
        </p:nvSpPr>
        <p:spPr>
          <a:xfrm>
            <a:off x="6053328" y="3108960"/>
            <a:ext cx="146304" cy="0"/>
          </a:xfrm>
          <a:prstGeom prst="line">
            <a:avLst/>
          </a:prstGeom>
          <a:noFill/>
          <a:ln w="19050">
            <a:solidFill>
              <a:srgbClr val="2F6FED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8" name="Shape 86"/>
          <p:cNvSpPr/>
          <p:nvPr/>
        </p:nvSpPr>
        <p:spPr>
          <a:xfrm>
            <a:off x="8878824" y="3108960"/>
            <a:ext cx="128016" cy="0"/>
          </a:xfrm>
          <a:prstGeom prst="line">
            <a:avLst/>
          </a:prstGeom>
          <a:noFill/>
          <a:ln w="19050">
            <a:solidFill>
              <a:srgbClr val="C2751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9" name="Shape 87"/>
          <p:cNvSpPr/>
          <p:nvPr/>
        </p:nvSpPr>
        <p:spPr>
          <a:xfrm>
            <a:off x="3200400" y="4169664"/>
            <a:ext cx="0" cy="146304"/>
          </a:xfrm>
          <a:prstGeom prst="line">
            <a:avLst/>
          </a:prstGeom>
          <a:noFill/>
          <a:ln w="19050">
            <a:solidFill>
              <a:srgbClr val="D93A3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0" name="Shape 88"/>
          <p:cNvSpPr/>
          <p:nvPr/>
        </p:nvSpPr>
        <p:spPr>
          <a:xfrm>
            <a:off x="320040" y="4334256"/>
            <a:ext cx="11548872" cy="420624"/>
          </a:xfrm>
          <a:prstGeom prst="roundRect">
            <a:avLst>
              <a:gd name="adj" fmla="val 10870"/>
            </a:avLst>
          </a:prstGeom>
          <a:solidFill>
            <a:srgbClr val="D93A3A"/>
          </a:solidFill>
          <a:ln w="12700">
            <a:solidFill>
              <a:srgbClr val="D9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Text 89"/>
          <p:cNvSpPr/>
          <p:nvPr/>
        </p:nvSpPr>
        <p:spPr>
          <a:xfrm>
            <a:off x="429768" y="4370832"/>
            <a:ext cx="11329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6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· OUTPUT GUARDRAILS  (AKS pod — every response passes here before it reaches the UI)</a:t>
            </a:r>
            <a:endParaRPr lang="en-US" sz="900" dirty="0"/>
          </a:p>
        </p:txBody>
      </p:sp>
      <p:sp>
        <p:nvSpPr>
          <p:cNvPr id="92" name="Shape 90"/>
          <p:cNvSpPr/>
          <p:nvPr/>
        </p:nvSpPr>
        <p:spPr>
          <a:xfrm>
            <a:off x="457200" y="4553712"/>
            <a:ext cx="1856232" cy="173736"/>
          </a:xfrm>
          <a:prstGeom prst="roundRect">
            <a:avLst>
              <a:gd name="adj" fmla="val 21053"/>
            </a:avLst>
          </a:prstGeom>
          <a:solidFill>
            <a:srgbClr val="0D1424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" name="Text 91"/>
          <p:cNvSpPr/>
          <p:nvPr/>
        </p:nvSpPr>
        <p:spPr>
          <a:xfrm>
            <a:off x="484632" y="4553712"/>
            <a:ext cx="18013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Grounding / citation check</a:t>
            </a:r>
            <a:endParaRPr lang="en-US" sz="630" dirty="0"/>
          </a:p>
        </p:txBody>
      </p:sp>
      <p:sp>
        <p:nvSpPr>
          <p:cNvPr id="94" name="Shape 92"/>
          <p:cNvSpPr/>
          <p:nvPr/>
        </p:nvSpPr>
        <p:spPr>
          <a:xfrm>
            <a:off x="2368296" y="4553712"/>
            <a:ext cx="1856232" cy="173736"/>
          </a:xfrm>
          <a:prstGeom prst="roundRect">
            <a:avLst>
              <a:gd name="adj" fmla="val 21053"/>
            </a:avLst>
          </a:prstGeom>
          <a:solidFill>
            <a:srgbClr val="0D1424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" name="Text 93"/>
          <p:cNvSpPr/>
          <p:nvPr/>
        </p:nvSpPr>
        <p:spPr>
          <a:xfrm>
            <a:off x="2395728" y="4553712"/>
            <a:ext cx="18013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Medical QA Verifier</a:t>
            </a:r>
            <a:endParaRPr lang="en-US" sz="630" dirty="0"/>
          </a:p>
        </p:txBody>
      </p:sp>
      <p:sp>
        <p:nvSpPr>
          <p:cNvPr id="96" name="Shape 94"/>
          <p:cNvSpPr/>
          <p:nvPr/>
        </p:nvSpPr>
        <p:spPr>
          <a:xfrm>
            <a:off x="4279392" y="4553712"/>
            <a:ext cx="1856232" cy="173736"/>
          </a:xfrm>
          <a:prstGeom prst="roundRect">
            <a:avLst>
              <a:gd name="adj" fmla="val 21053"/>
            </a:avLst>
          </a:prstGeom>
          <a:solidFill>
            <a:srgbClr val="0D1424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7" name="Text 95"/>
          <p:cNvSpPr/>
          <p:nvPr/>
        </p:nvSpPr>
        <p:spPr>
          <a:xfrm>
            <a:off x="4306824" y="4553712"/>
            <a:ext cx="18013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PHI / PII output scan</a:t>
            </a:r>
            <a:endParaRPr lang="en-US" sz="630" dirty="0"/>
          </a:p>
        </p:txBody>
      </p:sp>
      <p:sp>
        <p:nvSpPr>
          <p:cNvPr id="98" name="Shape 96"/>
          <p:cNvSpPr/>
          <p:nvPr/>
        </p:nvSpPr>
        <p:spPr>
          <a:xfrm>
            <a:off x="6190488" y="4553712"/>
            <a:ext cx="1856232" cy="173736"/>
          </a:xfrm>
          <a:prstGeom prst="roundRect">
            <a:avLst>
              <a:gd name="adj" fmla="val 21053"/>
            </a:avLst>
          </a:prstGeom>
          <a:solidFill>
            <a:srgbClr val="0D1424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9" name="Text 97"/>
          <p:cNvSpPr/>
          <p:nvPr/>
        </p:nvSpPr>
        <p:spPr>
          <a:xfrm>
            <a:off x="6217920" y="4553712"/>
            <a:ext cx="18013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No-decision policy check</a:t>
            </a:r>
            <a:endParaRPr lang="en-US" sz="630" dirty="0"/>
          </a:p>
        </p:txBody>
      </p:sp>
      <p:sp>
        <p:nvSpPr>
          <p:cNvPr id="100" name="Shape 98"/>
          <p:cNvSpPr/>
          <p:nvPr/>
        </p:nvSpPr>
        <p:spPr>
          <a:xfrm>
            <a:off x="8101584" y="4553712"/>
            <a:ext cx="1856232" cy="173736"/>
          </a:xfrm>
          <a:prstGeom prst="roundRect">
            <a:avLst>
              <a:gd name="adj" fmla="val 21053"/>
            </a:avLst>
          </a:prstGeom>
          <a:solidFill>
            <a:srgbClr val="0D1424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Text 99"/>
          <p:cNvSpPr/>
          <p:nvPr/>
        </p:nvSpPr>
        <p:spPr>
          <a:xfrm>
            <a:off x="8129016" y="4553712"/>
            <a:ext cx="18013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Insufficient-evidence → escalate</a:t>
            </a:r>
            <a:endParaRPr lang="en-US" sz="630" dirty="0"/>
          </a:p>
        </p:txBody>
      </p:sp>
      <p:sp>
        <p:nvSpPr>
          <p:cNvPr id="102" name="Shape 100"/>
          <p:cNvSpPr/>
          <p:nvPr/>
        </p:nvSpPr>
        <p:spPr>
          <a:xfrm>
            <a:off x="10012680" y="4553712"/>
            <a:ext cx="1856232" cy="173736"/>
          </a:xfrm>
          <a:prstGeom prst="roundRect">
            <a:avLst>
              <a:gd name="adj" fmla="val 21053"/>
            </a:avLst>
          </a:prstGeom>
          <a:solidFill>
            <a:srgbClr val="0D1424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" name="Text 101"/>
          <p:cNvSpPr/>
          <p:nvPr/>
        </p:nvSpPr>
        <p:spPr>
          <a:xfrm>
            <a:off x="10040112" y="4553712"/>
            <a:ext cx="18013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 + citations → UI</a:t>
            </a:r>
            <a:endParaRPr lang="en-US" sz="630" dirty="0"/>
          </a:p>
        </p:txBody>
      </p:sp>
      <p:sp>
        <p:nvSpPr>
          <p:cNvPr id="104" name="Shape 102"/>
          <p:cNvSpPr/>
          <p:nvPr/>
        </p:nvSpPr>
        <p:spPr>
          <a:xfrm>
            <a:off x="320040" y="4864608"/>
            <a:ext cx="11548872" cy="804672"/>
          </a:xfrm>
          <a:prstGeom prst="roundRect">
            <a:avLst>
              <a:gd name="adj" fmla="val 5682"/>
            </a:avLst>
          </a:prstGeom>
          <a:solidFill>
            <a:srgbClr val="17203A"/>
          </a:solidFill>
          <a:ln w="12700">
            <a:solidFill>
              <a:srgbClr val="0E9F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" name="Text 103"/>
          <p:cNvSpPr/>
          <p:nvPr/>
        </p:nvSpPr>
        <p:spPr>
          <a:xfrm>
            <a:off x="429768" y="4901184"/>
            <a:ext cx="11329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6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· DEPLOYMENT PATH  —  build once, promote the same immutable image</a:t>
            </a:r>
            <a:endParaRPr lang="en-US" sz="900" dirty="0"/>
          </a:p>
        </p:txBody>
      </p:sp>
      <p:sp>
        <p:nvSpPr>
          <p:cNvPr id="106" name="Shape 104"/>
          <p:cNvSpPr/>
          <p:nvPr/>
        </p:nvSpPr>
        <p:spPr>
          <a:xfrm>
            <a:off x="429768" y="5102352"/>
            <a:ext cx="1188720" cy="457200"/>
          </a:xfrm>
          <a:prstGeom prst="roundRect">
            <a:avLst>
              <a:gd name="adj" fmla="val 8000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7" name="Text 105"/>
          <p:cNvSpPr/>
          <p:nvPr/>
        </p:nvSpPr>
        <p:spPr>
          <a:xfrm>
            <a:off x="457200" y="5102352"/>
            <a:ext cx="1133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repo</a:t>
            </a:r>
            <a:endParaRPr lang="en-US" sz="620" dirty="0"/>
          </a:p>
          <a:p>
            <a:pPr marL="0" indent="0" algn="ctr">
              <a:buNone/>
            </a:pPr>
            <a:r>
              <a:rPr lang="en-US" sz="6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branch + PR</a:t>
            </a:r>
            <a:endParaRPr lang="en-US" sz="620" dirty="0"/>
          </a:p>
        </p:txBody>
      </p:sp>
      <p:sp>
        <p:nvSpPr>
          <p:cNvPr id="108" name="Shape 106"/>
          <p:cNvSpPr/>
          <p:nvPr/>
        </p:nvSpPr>
        <p:spPr>
          <a:xfrm>
            <a:off x="1627632" y="5330952"/>
            <a:ext cx="82296" cy="0"/>
          </a:xfrm>
          <a:prstGeom prst="line">
            <a:avLst/>
          </a:prstGeom>
          <a:noFill/>
          <a:ln w="19050">
            <a:solidFill>
              <a:srgbClr val="0E9F6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9" name="Shape 107"/>
          <p:cNvSpPr/>
          <p:nvPr/>
        </p:nvSpPr>
        <p:spPr>
          <a:xfrm>
            <a:off x="1719072" y="5102352"/>
            <a:ext cx="1188720" cy="457200"/>
          </a:xfrm>
          <a:prstGeom prst="roundRect">
            <a:avLst>
              <a:gd name="adj" fmla="val 8000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0" name="Text 108"/>
          <p:cNvSpPr/>
          <p:nvPr/>
        </p:nvSpPr>
        <p:spPr>
          <a:xfrm>
            <a:off x="1746504" y="5102352"/>
            <a:ext cx="1133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 pipeline</a:t>
            </a:r>
            <a:endParaRPr lang="en-US" sz="620" dirty="0"/>
          </a:p>
          <a:p>
            <a:pPr marL="0" indent="0" algn="ctr">
              <a:buNone/>
            </a:pPr>
            <a:r>
              <a:rPr lang="en-US" sz="6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lint · unit · guardrail tests</a:t>
            </a:r>
            <a:endParaRPr lang="en-US" sz="620" dirty="0"/>
          </a:p>
        </p:txBody>
      </p:sp>
      <p:sp>
        <p:nvSpPr>
          <p:cNvPr id="111" name="Shape 109"/>
          <p:cNvSpPr/>
          <p:nvPr/>
        </p:nvSpPr>
        <p:spPr>
          <a:xfrm>
            <a:off x="2916936" y="5330952"/>
            <a:ext cx="82296" cy="0"/>
          </a:xfrm>
          <a:prstGeom prst="line">
            <a:avLst/>
          </a:prstGeom>
          <a:noFill/>
          <a:ln w="19050">
            <a:solidFill>
              <a:srgbClr val="0E9F6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2" name="Shape 110"/>
          <p:cNvSpPr/>
          <p:nvPr/>
        </p:nvSpPr>
        <p:spPr>
          <a:xfrm>
            <a:off x="3008376" y="5102352"/>
            <a:ext cx="1188720" cy="457200"/>
          </a:xfrm>
          <a:prstGeom prst="roundRect">
            <a:avLst>
              <a:gd name="adj" fmla="val 8000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3" name="Text 111"/>
          <p:cNvSpPr/>
          <p:nvPr/>
        </p:nvSpPr>
        <p:spPr>
          <a:xfrm>
            <a:off x="3035808" y="5102352"/>
            <a:ext cx="1133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 build</a:t>
            </a:r>
            <a:endParaRPr lang="en-US" sz="620" dirty="0"/>
          </a:p>
          <a:p>
            <a:pPr marL="0" indent="0" algn="ctr">
              <a:buNone/>
            </a:pPr>
            <a:r>
              <a:rPr lang="en-US" sz="6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</a:t>
            </a:r>
            <a:endParaRPr lang="en-US" sz="620" dirty="0"/>
          </a:p>
        </p:txBody>
      </p:sp>
      <p:sp>
        <p:nvSpPr>
          <p:cNvPr id="114" name="Shape 112"/>
          <p:cNvSpPr/>
          <p:nvPr/>
        </p:nvSpPr>
        <p:spPr>
          <a:xfrm>
            <a:off x="4206240" y="5330952"/>
            <a:ext cx="82296" cy="0"/>
          </a:xfrm>
          <a:prstGeom prst="line">
            <a:avLst/>
          </a:prstGeom>
          <a:noFill/>
          <a:ln w="19050">
            <a:solidFill>
              <a:srgbClr val="0E9F6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5" name="Shape 113"/>
          <p:cNvSpPr/>
          <p:nvPr/>
        </p:nvSpPr>
        <p:spPr>
          <a:xfrm>
            <a:off x="4297680" y="5102352"/>
            <a:ext cx="1188720" cy="457200"/>
          </a:xfrm>
          <a:prstGeom prst="roundRect">
            <a:avLst>
              <a:gd name="adj" fmla="val 8000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6" name="Text 114"/>
          <p:cNvSpPr/>
          <p:nvPr/>
        </p:nvSpPr>
        <p:spPr>
          <a:xfrm>
            <a:off x="4325112" y="5102352"/>
            <a:ext cx="1133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scan</a:t>
            </a:r>
            <a:endParaRPr lang="en-US" sz="620" dirty="0"/>
          </a:p>
          <a:p>
            <a:pPr marL="0" indent="0" algn="ctr">
              <a:buNone/>
            </a:pPr>
            <a:r>
              <a:rPr lang="en-US" sz="6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Trivy / Defender</a:t>
            </a:r>
            <a:endParaRPr lang="en-US" sz="620" dirty="0"/>
          </a:p>
        </p:txBody>
      </p:sp>
      <p:sp>
        <p:nvSpPr>
          <p:cNvPr id="117" name="Shape 115"/>
          <p:cNvSpPr/>
          <p:nvPr/>
        </p:nvSpPr>
        <p:spPr>
          <a:xfrm>
            <a:off x="5495544" y="5330952"/>
            <a:ext cx="82296" cy="0"/>
          </a:xfrm>
          <a:prstGeom prst="line">
            <a:avLst/>
          </a:prstGeom>
          <a:noFill/>
          <a:ln w="19050">
            <a:solidFill>
              <a:srgbClr val="0E9F6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8" name="Shape 116"/>
          <p:cNvSpPr/>
          <p:nvPr/>
        </p:nvSpPr>
        <p:spPr>
          <a:xfrm>
            <a:off x="5586984" y="5102352"/>
            <a:ext cx="1188720" cy="457200"/>
          </a:xfrm>
          <a:prstGeom prst="roundRect">
            <a:avLst>
              <a:gd name="adj" fmla="val 8000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9" name="Text 117"/>
          <p:cNvSpPr/>
          <p:nvPr/>
        </p:nvSpPr>
        <p:spPr>
          <a:xfrm>
            <a:off x="5614416" y="5102352"/>
            <a:ext cx="1133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</a:t>
            </a:r>
            <a:endParaRPr lang="en-US" sz="620" dirty="0"/>
          </a:p>
          <a:p>
            <a:pPr marL="0" indent="0" algn="ctr">
              <a:buNone/>
            </a:pPr>
            <a:r>
              <a:rPr lang="en-US" sz="6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immutable tag + digest</a:t>
            </a:r>
            <a:endParaRPr lang="en-US" sz="620" dirty="0"/>
          </a:p>
        </p:txBody>
      </p:sp>
      <p:sp>
        <p:nvSpPr>
          <p:cNvPr id="120" name="Shape 118"/>
          <p:cNvSpPr/>
          <p:nvPr/>
        </p:nvSpPr>
        <p:spPr>
          <a:xfrm>
            <a:off x="6784848" y="5330952"/>
            <a:ext cx="82296" cy="0"/>
          </a:xfrm>
          <a:prstGeom prst="line">
            <a:avLst/>
          </a:prstGeom>
          <a:noFill/>
          <a:ln w="19050">
            <a:solidFill>
              <a:srgbClr val="0E9F6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1" name="Shape 119"/>
          <p:cNvSpPr/>
          <p:nvPr/>
        </p:nvSpPr>
        <p:spPr>
          <a:xfrm>
            <a:off x="6876288" y="5102352"/>
            <a:ext cx="1188720" cy="457200"/>
          </a:xfrm>
          <a:prstGeom prst="roundRect">
            <a:avLst>
              <a:gd name="adj" fmla="val 8000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2" name="Text 120"/>
          <p:cNvSpPr/>
          <p:nvPr/>
        </p:nvSpPr>
        <p:spPr>
          <a:xfrm>
            <a:off x="6903720" y="5102352"/>
            <a:ext cx="1133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Helm chart</a:t>
            </a:r>
            <a:endParaRPr lang="en-US" sz="620" dirty="0"/>
          </a:p>
          <a:p>
            <a:pPr marL="0" indent="0" algn="ctr">
              <a:buNone/>
            </a:pPr>
            <a:r>
              <a:rPr lang="en-US" sz="6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values-&lt;env&gt;.yaml</a:t>
            </a:r>
            <a:endParaRPr lang="en-US" sz="620" dirty="0"/>
          </a:p>
        </p:txBody>
      </p:sp>
      <p:sp>
        <p:nvSpPr>
          <p:cNvPr id="123" name="Shape 121"/>
          <p:cNvSpPr/>
          <p:nvPr/>
        </p:nvSpPr>
        <p:spPr>
          <a:xfrm>
            <a:off x="8074152" y="5330952"/>
            <a:ext cx="82296" cy="0"/>
          </a:xfrm>
          <a:prstGeom prst="line">
            <a:avLst/>
          </a:prstGeom>
          <a:noFill/>
          <a:ln w="19050">
            <a:solidFill>
              <a:srgbClr val="0E9F6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4" name="Shape 122"/>
          <p:cNvSpPr/>
          <p:nvPr/>
        </p:nvSpPr>
        <p:spPr>
          <a:xfrm>
            <a:off x="8165592" y="5102352"/>
            <a:ext cx="1188720" cy="457200"/>
          </a:xfrm>
          <a:prstGeom prst="roundRect">
            <a:avLst>
              <a:gd name="adj" fmla="val 8000"/>
            </a:avLst>
          </a:prstGeom>
          <a:solidFill>
            <a:srgbClr val="0E9F6E"/>
          </a:solidFill>
          <a:ln w="12700">
            <a:solidFill>
              <a:srgbClr val="0E9F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5" name="Text 123"/>
          <p:cNvSpPr/>
          <p:nvPr/>
        </p:nvSpPr>
        <p:spPr>
          <a:xfrm>
            <a:off x="8193024" y="5102352"/>
            <a:ext cx="1133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AKS DEV</a:t>
            </a:r>
            <a:endParaRPr lang="en-US" sz="620" dirty="0"/>
          </a:p>
          <a:p>
            <a:pPr marL="0" indent="0" algn="ctr">
              <a:buNone/>
            </a:pPr>
            <a:r>
              <a:rPr lang="en-US" sz="6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</a:t>
            </a:r>
            <a:endParaRPr lang="en-US" sz="620" dirty="0"/>
          </a:p>
        </p:txBody>
      </p:sp>
      <p:sp>
        <p:nvSpPr>
          <p:cNvPr id="126" name="Shape 124"/>
          <p:cNvSpPr/>
          <p:nvPr/>
        </p:nvSpPr>
        <p:spPr>
          <a:xfrm>
            <a:off x="9363456" y="5330952"/>
            <a:ext cx="82296" cy="0"/>
          </a:xfrm>
          <a:prstGeom prst="line">
            <a:avLst/>
          </a:prstGeom>
          <a:noFill/>
          <a:ln w="19050">
            <a:solidFill>
              <a:srgbClr val="0E9F6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7" name="Shape 125"/>
          <p:cNvSpPr/>
          <p:nvPr/>
        </p:nvSpPr>
        <p:spPr>
          <a:xfrm>
            <a:off x="9454896" y="5102352"/>
            <a:ext cx="1188720" cy="457200"/>
          </a:xfrm>
          <a:prstGeom prst="roundRect">
            <a:avLst>
              <a:gd name="adj" fmla="val 8000"/>
            </a:avLst>
          </a:prstGeom>
          <a:solidFill>
            <a:srgbClr val="0E9F6E"/>
          </a:solidFill>
          <a:ln w="12700">
            <a:solidFill>
              <a:srgbClr val="0E9F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8" name="Text 126"/>
          <p:cNvSpPr/>
          <p:nvPr/>
        </p:nvSpPr>
        <p:spPr>
          <a:xfrm>
            <a:off x="9482328" y="5102352"/>
            <a:ext cx="1133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AKS QA/UAT</a:t>
            </a:r>
            <a:endParaRPr lang="en-US" sz="620" dirty="0"/>
          </a:p>
          <a:p>
            <a:pPr marL="0" indent="0" algn="ctr">
              <a:buNone/>
            </a:pPr>
            <a:r>
              <a:rPr lang="en-US" sz="6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</a:t>
            </a:r>
            <a:endParaRPr lang="en-US" sz="620" dirty="0"/>
          </a:p>
        </p:txBody>
      </p:sp>
      <p:sp>
        <p:nvSpPr>
          <p:cNvPr id="129" name="Shape 127"/>
          <p:cNvSpPr/>
          <p:nvPr/>
        </p:nvSpPr>
        <p:spPr>
          <a:xfrm>
            <a:off x="10652760" y="5330952"/>
            <a:ext cx="82296" cy="0"/>
          </a:xfrm>
          <a:prstGeom prst="line">
            <a:avLst/>
          </a:prstGeom>
          <a:noFill/>
          <a:ln w="19050">
            <a:solidFill>
              <a:srgbClr val="0E9F6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0" name="Shape 128"/>
          <p:cNvSpPr/>
          <p:nvPr/>
        </p:nvSpPr>
        <p:spPr>
          <a:xfrm>
            <a:off x="10744200" y="5102352"/>
            <a:ext cx="1188720" cy="457200"/>
          </a:xfrm>
          <a:prstGeom prst="roundRect">
            <a:avLst>
              <a:gd name="adj" fmla="val 8000"/>
            </a:avLst>
          </a:prstGeom>
          <a:solidFill>
            <a:srgbClr val="0E9F6E"/>
          </a:solidFill>
          <a:ln w="12700">
            <a:solidFill>
              <a:srgbClr val="0E9F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1" name="Text 129"/>
          <p:cNvSpPr/>
          <p:nvPr/>
        </p:nvSpPr>
        <p:spPr>
          <a:xfrm>
            <a:off x="10771632" y="5102352"/>
            <a:ext cx="1133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AKS PROD</a:t>
            </a:r>
            <a:endParaRPr lang="en-US" sz="620" dirty="0"/>
          </a:p>
          <a:p>
            <a:pPr marL="0" indent="0" algn="ctr">
              <a:buNone/>
            </a:pPr>
            <a:endParaRPr lang="en-US" sz="620" dirty="0"/>
          </a:p>
        </p:txBody>
      </p:sp>
      <p:sp>
        <p:nvSpPr>
          <p:cNvPr id="132" name="Shape 130"/>
          <p:cNvSpPr/>
          <p:nvPr/>
        </p:nvSpPr>
        <p:spPr>
          <a:xfrm>
            <a:off x="320040" y="5779008"/>
            <a:ext cx="5806440" cy="475488"/>
          </a:xfrm>
          <a:prstGeom prst="roundRect">
            <a:avLst>
              <a:gd name="adj" fmla="val 9615"/>
            </a:avLst>
          </a:prstGeom>
          <a:solidFill>
            <a:srgbClr val="17203A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3" name="Text 131"/>
          <p:cNvSpPr/>
          <p:nvPr/>
        </p:nvSpPr>
        <p:spPr>
          <a:xfrm>
            <a:off x="429768" y="5815584"/>
            <a:ext cx="55869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6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(all zones)</a:t>
            </a:r>
            <a:endParaRPr lang="en-US" sz="900" dirty="0"/>
          </a:p>
        </p:txBody>
      </p:sp>
      <p:sp>
        <p:nvSpPr>
          <p:cNvPr id="134" name="Text 132"/>
          <p:cNvSpPr/>
          <p:nvPr/>
        </p:nvSpPr>
        <p:spPr>
          <a:xfrm>
            <a:off x="429768" y="5980176"/>
            <a:ext cx="55869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Workload Identity → Entra → Key Vault · private endpoints only · no public egress · TLS 1.3 · network policies · per-agent tool allow-list · least-privilege RBAC · no secrets in image/Helm/Git</a:t>
            </a:r>
            <a:endParaRPr lang="en-US" sz="630" dirty="0"/>
          </a:p>
        </p:txBody>
      </p:sp>
      <p:sp>
        <p:nvSpPr>
          <p:cNvPr id="135" name="Shape 133"/>
          <p:cNvSpPr/>
          <p:nvPr/>
        </p:nvSpPr>
        <p:spPr>
          <a:xfrm>
            <a:off x="6236208" y="5779008"/>
            <a:ext cx="5632704" cy="475488"/>
          </a:xfrm>
          <a:prstGeom prst="roundRect">
            <a:avLst>
              <a:gd name="adj" fmla="val 9615"/>
            </a:avLst>
          </a:prstGeom>
          <a:solidFill>
            <a:srgbClr val="17203A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6" name="Text 134"/>
          <p:cNvSpPr/>
          <p:nvPr/>
        </p:nvSpPr>
        <p:spPr>
          <a:xfrm>
            <a:off x="6345936" y="5815584"/>
            <a:ext cx="5413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6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OBSERVABILITY (all zones)</a:t>
            </a:r>
            <a:endParaRPr lang="en-US" sz="900" dirty="0"/>
          </a:p>
        </p:txBody>
      </p:sp>
      <p:sp>
        <p:nvSpPr>
          <p:cNvPr id="137" name="Text 135"/>
          <p:cNvSpPr/>
          <p:nvPr/>
        </p:nvSpPr>
        <p:spPr>
          <a:xfrm>
            <a:off x="6345936" y="5980176"/>
            <a:ext cx="5413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OpenTelemetry → Container Insights + App Insights · PHI-redacted traces · pod health · latency p95 · guardrail-violation counter · model 429s · retrieval failures · image tag + git SHA on every response</a:t>
            </a:r>
            <a:endParaRPr lang="en-US" sz="630" dirty="0"/>
          </a:p>
        </p:txBody>
      </p:sp>
      <p:sp>
        <p:nvSpPr>
          <p:cNvPr id="138" name="Text 136"/>
          <p:cNvSpPr/>
          <p:nvPr/>
        </p:nvSpPr>
        <p:spPr>
          <a:xfrm>
            <a:off x="320040" y="6327648"/>
            <a:ext cx="11548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E9F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Rollback: helm rollback to previous release → previous immutable image digest  ·  readiness/liveness/startup probes gate every rollout  ·  kill switch via App Configuration flag (no redeploy)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4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46304"/>
            <a:ext cx="11521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AKS-Based AI Platform — Technical Architecture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320040" y="713232"/>
            <a:ext cx="3803904" cy="1409090"/>
          </a:xfrm>
          <a:prstGeom prst="roundRect">
            <a:avLst>
              <a:gd name="adj" fmla="val 3245"/>
            </a:avLst>
          </a:prstGeom>
          <a:solidFill>
            <a:srgbClr val="17203A"/>
          </a:solidFill>
          <a:ln w="12700">
            <a:solidFill>
              <a:srgbClr val="3545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20040" y="713232"/>
            <a:ext cx="68580" cy="1409090"/>
          </a:xfrm>
          <a:prstGeom prst="roundRect">
            <a:avLst>
              <a:gd name="adj" fmla="val 26667"/>
            </a:avLst>
          </a:prstGeom>
          <a:solidFill>
            <a:srgbClr val="7C4DDA"/>
          </a:solidFill>
          <a:ln w="12700">
            <a:solidFill>
              <a:srgbClr val="7C4D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84632" y="758952"/>
            <a:ext cx="3529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80" dirty="0">
                <a:solidFill>
                  <a:srgbClr val="7C4D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84632" y="978408"/>
            <a:ext cx="3529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9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AKS — system + user node pools, zone-redundant</a:t>
            </a:r>
            <a:endParaRPr lang="en-US" sz="690" dirty="0"/>
          </a:p>
        </p:txBody>
      </p:sp>
      <p:sp>
        <p:nvSpPr>
          <p:cNvPr id="7" name="Text 5"/>
          <p:cNvSpPr/>
          <p:nvPr/>
        </p:nvSpPr>
        <p:spPr>
          <a:xfrm>
            <a:off x="484632" y="1127455"/>
            <a:ext cx="3529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9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Deployments / ReplicaSets per service</a:t>
            </a:r>
            <a:endParaRPr lang="en-US" sz="690" dirty="0"/>
          </a:p>
        </p:txBody>
      </p:sp>
      <p:sp>
        <p:nvSpPr>
          <p:cNvPr id="8" name="Text 6"/>
          <p:cNvSpPr/>
          <p:nvPr/>
        </p:nvSpPr>
        <p:spPr>
          <a:xfrm>
            <a:off x="484632" y="1276502"/>
            <a:ext cx="3529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9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ClusterIP Services; Ingress (AGIC or NGINX)</a:t>
            </a:r>
            <a:endParaRPr lang="en-US" sz="690" dirty="0"/>
          </a:p>
        </p:txBody>
      </p:sp>
      <p:sp>
        <p:nvSpPr>
          <p:cNvPr id="9" name="Text 7"/>
          <p:cNvSpPr/>
          <p:nvPr/>
        </p:nvSpPr>
        <p:spPr>
          <a:xfrm>
            <a:off x="484632" y="1425550"/>
            <a:ext cx="3529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9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HPA on CPU + custom queue-depth metric</a:t>
            </a:r>
            <a:endParaRPr lang="en-US" sz="690" dirty="0"/>
          </a:p>
        </p:txBody>
      </p:sp>
      <p:sp>
        <p:nvSpPr>
          <p:cNvPr id="10" name="Text 8"/>
          <p:cNvSpPr/>
          <p:nvPr/>
        </p:nvSpPr>
        <p:spPr>
          <a:xfrm>
            <a:off x="484632" y="1574597"/>
            <a:ext cx="3529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9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Resource requests/limits per pod</a:t>
            </a:r>
            <a:endParaRPr lang="en-US" sz="690" dirty="0"/>
          </a:p>
        </p:txBody>
      </p:sp>
      <p:sp>
        <p:nvSpPr>
          <p:cNvPr id="11" name="Text 9"/>
          <p:cNvSpPr/>
          <p:nvPr/>
        </p:nvSpPr>
        <p:spPr>
          <a:xfrm>
            <a:off x="484632" y="1723644"/>
            <a:ext cx="3529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9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PodDisruptionBudget; anti-affinity across zones</a:t>
            </a:r>
            <a:endParaRPr lang="en-US" sz="690" dirty="0"/>
          </a:p>
        </p:txBody>
      </p:sp>
      <p:sp>
        <p:nvSpPr>
          <p:cNvPr id="12" name="Text 10"/>
          <p:cNvSpPr/>
          <p:nvPr/>
        </p:nvSpPr>
        <p:spPr>
          <a:xfrm>
            <a:off x="484632" y="1872691"/>
            <a:ext cx="3529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9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CronJob — Summary batch workflow</a:t>
            </a:r>
            <a:endParaRPr lang="en-US" sz="690" dirty="0"/>
          </a:p>
        </p:txBody>
      </p:sp>
      <p:sp>
        <p:nvSpPr>
          <p:cNvPr id="13" name="Shape 11"/>
          <p:cNvSpPr/>
          <p:nvPr/>
        </p:nvSpPr>
        <p:spPr>
          <a:xfrm>
            <a:off x="4279392" y="713232"/>
            <a:ext cx="3803904" cy="1260043"/>
          </a:xfrm>
          <a:prstGeom prst="roundRect">
            <a:avLst>
              <a:gd name="adj" fmla="val 3628"/>
            </a:avLst>
          </a:prstGeom>
          <a:solidFill>
            <a:srgbClr val="17203A"/>
          </a:solidFill>
          <a:ln w="12700">
            <a:solidFill>
              <a:srgbClr val="3545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279392" y="713232"/>
            <a:ext cx="68580" cy="1260043"/>
          </a:xfrm>
          <a:prstGeom prst="roundRect">
            <a:avLst>
              <a:gd name="adj" fmla="val 26667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443984" y="758952"/>
            <a:ext cx="3529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8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CONTAINERISATION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443984" y="978408"/>
            <a:ext cx="3529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9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Docker; distroless/slim base images</a:t>
            </a:r>
            <a:endParaRPr lang="en-US" sz="690" dirty="0"/>
          </a:p>
        </p:txBody>
      </p:sp>
      <p:sp>
        <p:nvSpPr>
          <p:cNvPr id="17" name="Text 15"/>
          <p:cNvSpPr/>
          <p:nvPr/>
        </p:nvSpPr>
        <p:spPr>
          <a:xfrm>
            <a:off x="4443984" y="1127455"/>
            <a:ext cx="3529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9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ACR — geo-replicated, tag immutability ON</a:t>
            </a:r>
            <a:endParaRPr lang="en-US" sz="690" dirty="0"/>
          </a:p>
        </p:txBody>
      </p:sp>
      <p:sp>
        <p:nvSpPr>
          <p:cNvPr id="18" name="Text 16"/>
          <p:cNvSpPr/>
          <p:nvPr/>
        </p:nvSpPr>
        <p:spPr>
          <a:xfrm>
            <a:off x="4443984" y="1276502"/>
            <a:ext cx="3529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9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Tag = semver + git SHA; pull by digest</a:t>
            </a:r>
            <a:endParaRPr lang="en-US" sz="690" dirty="0"/>
          </a:p>
        </p:txBody>
      </p:sp>
      <p:sp>
        <p:nvSpPr>
          <p:cNvPr id="19" name="Text 17"/>
          <p:cNvSpPr/>
          <p:nvPr/>
        </p:nvSpPr>
        <p:spPr>
          <a:xfrm>
            <a:off x="4443984" y="1425550"/>
            <a:ext cx="3529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9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Trivy / Defender for Containers scan gate</a:t>
            </a:r>
            <a:endParaRPr lang="en-US" sz="690" dirty="0"/>
          </a:p>
        </p:txBody>
      </p:sp>
      <p:sp>
        <p:nvSpPr>
          <p:cNvPr id="20" name="Text 18"/>
          <p:cNvSpPr/>
          <p:nvPr/>
        </p:nvSpPr>
        <p:spPr>
          <a:xfrm>
            <a:off x="4443984" y="1574597"/>
            <a:ext cx="3529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9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SBOM generated per build; image signing (cosign)</a:t>
            </a:r>
            <a:endParaRPr lang="en-US" sz="690" dirty="0"/>
          </a:p>
        </p:txBody>
      </p:sp>
      <p:sp>
        <p:nvSpPr>
          <p:cNvPr id="21" name="Text 19"/>
          <p:cNvSpPr/>
          <p:nvPr/>
        </p:nvSpPr>
        <p:spPr>
          <a:xfrm>
            <a:off x="4443984" y="1723644"/>
            <a:ext cx="3529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9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ACR → AKS via managed identity (no admin creds)</a:t>
            </a:r>
            <a:endParaRPr lang="en-US" sz="690" dirty="0"/>
          </a:p>
        </p:txBody>
      </p:sp>
      <p:sp>
        <p:nvSpPr>
          <p:cNvPr id="22" name="Shape 20"/>
          <p:cNvSpPr/>
          <p:nvPr/>
        </p:nvSpPr>
        <p:spPr>
          <a:xfrm>
            <a:off x="8238744" y="713232"/>
            <a:ext cx="3803904" cy="1409090"/>
          </a:xfrm>
          <a:prstGeom prst="roundRect">
            <a:avLst>
              <a:gd name="adj" fmla="val 3245"/>
            </a:avLst>
          </a:prstGeom>
          <a:solidFill>
            <a:srgbClr val="17203A"/>
          </a:solidFill>
          <a:ln w="12700">
            <a:solidFill>
              <a:srgbClr val="3545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8238744" y="713232"/>
            <a:ext cx="68580" cy="1409090"/>
          </a:xfrm>
          <a:prstGeom prst="roundRect">
            <a:avLst>
              <a:gd name="adj" fmla="val 26667"/>
            </a:avLst>
          </a:prstGeom>
          <a:solidFill>
            <a:srgbClr val="0E9F6E"/>
          </a:solidFill>
          <a:ln w="12700">
            <a:solidFill>
              <a:srgbClr val="0E9F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403336" y="758952"/>
            <a:ext cx="3529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80" dirty="0">
                <a:solidFill>
                  <a:srgbClr val="0E9F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8403336" y="978408"/>
            <a:ext cx="3529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9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CI/CD: Azure DevOps or GitHub Actions</a:t>
            </a:r>
            <a:endParaRPr lang="en-US" sz="690" dirty="0"/>
          </a:p>
        </p:txBody>
      </p:sp>
      <p:sp>
        <p:nvSpPr>
          <p:cNvPr id="26" name="Text 24"/>
          <p:cNvSpPr/>
          <p:nvPr/>
        </p:nvSpPr>
        <p:spPr>
          <a:xfrm>
            <a:off x="8403336" y="1127455"/>
            <a:ext cx="3529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9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Single Helm chart; values-dev/qa/prod.yaml</a:t>
            </a:r>
            <a:endParaRPr lang="en-US" sz="690" dirty="0"/>
          </a:p>
        </p:txBody>
      </p:sp>
      <p:sp>
        <p:nvSpPr>
          <p:cNvPr id="27" name="Text 25"/>
          <p:cNvSpPr/>
          <p:nvPr/>
        </p:nvSpPr>
        <p:spPr>
          <a:xfrm>
            <a:off x="8403336" y="1276502"/>
            <a:ext cx="3529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9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Build once → promote same digest DEV→QA→PROD</a:t>
            </a:r>
            <a:endParaRPr lang="en-US" sz="690" dirty="0"/>
          </a:p>
        </p:txBody>
      </p:sp>
      <p:sp>
        <p:nvSpPr>
          <p:cNvPr id="28" name="Text 26"/>
          <p:cNvSpPr/>
          <p:nvPr/>
        </p:nvSpPr>
        <p:spPr>
          <a:xfrm>
            <a:off x="8403336" y="1425550"/>
            <a:ext cx="3529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9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Environment approvals + change record on PROD</a:t>
            </a:r>
            <a:endParaRPr lang="en-US" sz="690" dirty="0"/>
          </a:p>
        </p:txBody>
      </p:sp>
      <p:sp>
        <p:nvSpPr>
          <p:cNvPr id="29" name="Text 27"/>
          <p:cNvSpPr/>
          <p:nvPr/>
        </p:nvSpPr>
        <p:spPr>
          <a:xfrm>
            <a:off x="8403336" y="1574597"/>
            <a:ext cx="3529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9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RollingUpdate: maxSurge 1 / maxUnavailable 0</a:t>
            </a:r>
            <a:endParaRPr lang="en-US" sz="690" dirty="0"/>
          </a:p>
        </p:txBody>
      </p:sp>
      <p:sp>
        <p:nvSpPr>
          <p:cNvPr id="30" name="Text 28"/>
          <p:cNvSpPr/>
          <p:nvPr/>
        </p:nvSpPr>
        <p:spPr>
          <a:xfrm>
            <a:off x="8403336" y="1723644"/>
            <a:ext cx="3529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9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helm rollback &lt;release&gt; &lt;revision&gt;</a:t>
            </a:r>
            <a:endParaRPr lang="en-US" sz="690" dirty="0"/>
          </a:p>
        </p:txBody>
      </p:sp>
      <p:sp>
        <p:nvSpPr>
          <p:cNvPr id="31" name="Text 29"/>
          <p:cNvSpPr/>
          <p:nvPr/>
        </p:nvSpPr>
        <p:spPr>
          <a:xfrm>
            <a:off x="8403336" y="1872691"/>
            <a:ext cx="3529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9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Helm release history retained (min 10)</a:t>
            </a:r>
            <a:endParaRPr lang="en-US" sz="690" dirty="0"/>
          </a:p>
        </p:txBody>
      </p:sp>
      <p:sp>
        <p:nvSpPr>
          <p:cNvPr id="32" name="Shape 30"/>
          <p:cNvSpPr/>
          <p:nvPr/>
        </p:nvSpPr>
        <p:spPr>
          <a:xfrm>
            <a:off x="4279392" y="2073859"/>
            <a:ext cx="3803904" cy="1409090"/>
          </a:xfrm>
          <a:prstGeom prst="roundRect">
            <a:avLst>
              <a:gd name="adj" fmla="val 3245"/>
            </a:avLst>
          </a:prstGeom>
          <a:solidFill>
            <a:srgbClr val="17203A"/>
          </a:solidFill>
          <a:ln w="12700">
            <a:solidFill>
              <a:srgbClr val="3545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279392" y="2073859"/>
            <a:ext cx="68580" cy="1409090"/>
          </a:xfrm>
          <a:prstGeom prst="roundRect">
            <a:avLst>
              <a:gd name="adj" fmla="val 26667"/>
            </a:avLst>
          </a:prstGeom>
          <a:solidFill>
            <a:srgbClr val="7C4DDA"/>
          </a:solidFill>
          <a:ln w="12700">
            <a:solidFill>
              <a:srgbClr val="7C4D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443984" y="2119579"/>
            <a:ext cx="3529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80" dirty="0">
                <a:solidFill>
                  <a:srgbClr val="7C4D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/ AGENT LAYER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443984" y="2339035"/>
            <a:ext cx="3529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9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Orchestrator Agent — LangGraph state machine</a:t>
            </a:r>
            <a:endParaRPr lang="en-US" sz="690" dirty="0"/>
          </a:p>
        </p:txBody>
      </p:sp>
      <p:sp>
        <p:nvSpPr>
          <p:cNvPr id="36" name="Text 34"/>
          <p:cNvSpPr/>
          <p:nvPr/>
        </p:nvSpPr>
        <p:spPr>
          <a:xfrm>
            <a:off x="4443984" y="2488082"/>
            <a:ext cx="3529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9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Intent · Vector DB · SQL · Chatbot · Summary agents</a:t>
            </a:r>
            <a:endParaRPr lang="en-US" sz="690" dirty="0"/>
          </a:p>
        </p:txBody>
      </p:sp>
      <p:sp>
        <p:nvSpPr>
          <p:cNvPr id="37" name="Text 35"/>
          <p:cNvSpPr/>
          <p:nvPr/>
        </p:nvSpPr>
        <p:spPr>
          <a:xfrm>
            <a:off x="4443984" y="2637130"/>
            <a:ext cx="3529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9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Extractors (2) — medical evidence, summary</a:t>
            </a:r>
            <a:endParaRPr lang="en-US" sz="690" dirty="0"/>
          </a:p>
        </p:txBody>
      </p:sp>
      <p:sp>
        <p:nvSpPr>
          <p:cNvPr id="38" name="Text 36"/>
          <p:cNvSpPr/>
          <p:nvPr/>
        </p:nvSpPr>
        <p:spPr>
          <a:xfrm>
            <a:off x="4443984" y="2786177"/>
            <a:ext cx="3529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9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Deterministic rules engine — lookback (no LLM)</a:t>
            </a:r>
            <a:endParaRPr lang="en-US" sz="690" dirty="0"/>
          </a:p>
        </p:txBody>
      </p:sp>
      <p:sp>
        <p:nvSpPr>
          <p:cNvPr id="39" name="Text 37"/>
          <p:cNvSpPr/>
          <p:nvPr/>
        </p:nvSpPr>
        <p:spPr>
          <a:xfrm>
            <a:off x="4443984" y="2935224"/>
            <a:ext cx="3529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9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Agent state in PostgreSQL / Redis (replaces Foundry threads)</a:t>
            </a:r>
            <a:endParaRPr lang="en-US" sz="690" dirty="0"/>
          </a:p>
        </p:txBody>
      </p:sp>
      <p:sp>
        <p:nvSpPr>
          <p:cNvPr id="40" name="Text 38"/>
          <p:cNvSpPr/>
          <p:nvPr/>
        </p:nvSpPr>
        <p:spPr>
          <a:xfrm>
            <a:off x="4443984" y="3084271"/>
            <a:ext cx="3529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9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Step / tool-call / token / timeout caps enforced in code</a:t>
            </a:r>
            <a:endParaRPr lang="en-US" sz="690" dirty="0"/>
          </a:p>
        </p:txBody>
      </p:sp>
      <p:sp>
        <p:nvSpPr>
          <p:cNvPr id="41" name="Text 39"/>
          <p:cNvSpPr/>
          <p:nvPr/>
        </p:nvSpPr>
        <p:spPr>
          <a:xfrm>
            <a:off x="4443984" y="3233318"/>
            <a:ext cx="3529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9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Model: gpt-5 via Optum LLM Gateway (OAuth2, version pinned)</a:t>
            </a:r>
            <a:endParaRPr lang="en-US" sz="690" dirty="0"/>
          </a:p>
        </p:txBody>
      </p:sp>
      <p:sp>
        <p:nvSpPr>
          <p:cNvPr id="42" name="Shape 40"/>
          <p:cNvSpPr/>
          <p:nvPr/>
        </p:nvSpPr>
        <p:spPr>
          <a:xfrm>
            <a:off x="320040" y="2222906"/>
            <a:ext cx="3803904" cy="1260043"/>
          </a:xfrm>
          <a:prstGeom prst="roundRect">
            <a:avLst>
              <a:gd name="adj" fmla="val 3628"/>
            </a:avLst>
          </a:prstGeom>
          <a:solidFill>
            <a:srgbClr val="17203A"/>
          </a:solidFill>
          <a:ln w="12700">
            <a:solidFill>
              <a:srgbClr val="3545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320040" y="2222906"/>
            <a:ext cx="68580" cy="1260043"/>
          </a:xfrm>
          <a:prstGeom prst="roundRect">
            <a:avLst>
              <a:gd name="adj" fmla="val 26667"/>
            </a:avLst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484632" y="2268626"/>
            <a:ext cx="3529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80" dirty="0">
                <a:solidFill>
                  <a:srgbClr val="2F6F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484632" y="2488082"/>
            <a:ext cx="3529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9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Azure AI Search — hybrid + semantic reranker</a:t>
            </a:r>
            <a:endParaRPr lang="en-US" sz="690" dirty="0"/>
          </a:p>
        </p:txBody>
      </p:sp>
      <p:sp>
        <p:nvSpPr>
          <p:cNvPr id="46" name="Text 44"/>
          <p:cNvSpPr/>
          <p:nvPr/>
        </p:nvSpPr>
        <p:spPr>
          <a:xfrm>
            <a:off x="484632" y="2637130"/>
            <a:ext cx="3529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9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Filter: member_id eq ‘&lt;id&gt;’ — hard security trim</a:t>
            </a:r>
            <a:endParaRPr lang="en-US" sz="690" dirty="0"/>
          </a:p>
        </p:txBody>
      </p:sp>
      <p:sp>
        <p:nvSpPr>
          <p:cNvPr id="47" name="Text 45"/>
          <p:cNvSpPr/>
          <p:nvPr/>
        </p:nvSpPr>
        <p:spPr>
          <a:xfrm>
            <a:off x="484632" y="2786177"/>
            <a:ext cx="3529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9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Azure Document Intelligence — extract + OCR</a:t>
            </a:r>
            <a:endParaRPr lang="en-US" sz="690" dirty="0"/>
          </a:p>
        </p:txBody>
      </p:sp>
      <p:sp>
        <p:nvSpPr>
          <p:cNvPr id="48" name="Text 46"/>
          <p:cNvSpPr/>
          <p:nvPr/>
        </p:nvSpPr>
        <p:spPr>
          <a:xfrm>
            <a:off x="484632" y="2935224"/>
            <a:ext cx="3529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9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Section-aware chunking; source + page metadata</a:t>
            </a:r>
            <a:endParaRPr lang="en-US" sz="690" dirty="0"/>
          </a:p>
        </p:txBody>
      </p:sp>
      <p:sp>
        <p:nvSpPr>
          <p:cNvPr id="49" name="Text 47"/>
          <p:cNvSpPr/>
          <p:nvPr/>
        </p:nvSpPr>
        <p:spPr>
          <a:xfrm>
            <a:off x="484632" y="3084271"/>
            <a:ext cx="3529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9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Embedding model pinned; same for index and query</a:t>
            </a:r>
            <a:endParaRPr lang="en-US" sz="690" dirty="0"/>
          </a:p>
        </p:txBody>
      </p:sp>
      <p:sp>
        <p:nvSpPr>
          <p:cNvPr id="50" name="Text 48"/>
          <p:cNvSpPr/>
          <p:nvPr/>
        </p:nvSpPr>
        <p:spPr>
          <a:xfrm>
            <a:off x="484632" y="3233318"/>
            <a:ext cx="3529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9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Versioned index; switch by config, never reindex in place</a:t>
            </a:r>
            <a:endParaRPr lang="en-US" sz="690" dirty="0"/>
          </a:p>
        </p:txBody>
      </p:sp>
      <p:sp>
        <p:nvSpPr>
          <p:cNvPr id="51" name="Shape 49"/>
          <p:cNvSpPr/>
          <p:nvPr/>
        </p:nvSpPr>
        <p:spPr>
          <a:xfrm>
            <a:off x="8238744" y="2222906"/>
            <a:ext cx="3803904" cy="1558138"/>
          </a:xfrm>
          <a:prstGeom prst="roundRect">
            <a:avLst>
              <a:gd name="adj" fmla="val 2934"/>
            </a:avLst>
          </a:prstGeom>
          <a:solidFill>
            <a:srgbClr val="17203A"/>
          </a:solidFill>
          <a:ln w="12700">
            <a:solidFill>
              <a:srgbClr val="3545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8238744" y="2222906"/>
            <a:ext cx="68580" cy="1558138"/>
          </a:xfrm>
          <a:prstGeom prst="roundRect">
            <a:avLst>
              <a:gd name="adj" fmla="val 26667"/>
            </a:avLst>
          </a:prstGeom>
          <a:solidFill>
            <a:srgbClr val="D93A3A"/>
          </a:solidFill>
          <a:ln w="12700">
            <a:solidFill>
              <a:srgbClr val="D9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8403336" y="2268626"/>
            <a:ext cx="3529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80" dirty="0">
                <a:solidFill>
                  <a:srgbClr val="D9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GUARDRAILS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8403336" y="2488082"/>
            <a:ext cx="3529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9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Input: authZ, member scope, schema, PHI/PII, injection, policy</a:t>
            </a:r>
            <a:endParaRPr lang="en-US" sz="690" dirty="0"/>
          </a:p>
        </p:txBody>
      </p:sp>
      <p:sp>
        <p:nvSpPr>
          <p:cNvPr id="55" name="Text 53"/>
          <p:cNvSpPr/>
          <p:nvPr/>
        </p:nvSpPr>
        <p:spPr>
          <a:xfrm>
            <a:off x="8403336" y="2637130"/>
            <a:ext cx="3529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9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Retrieved content sanitised (indirect injection)</a:t>
            </a:r>
            <a:endParaRPr lang="en-US" sz="690" dirty="0"/>
          </a:p>
        </p:txBody>
      </p:sp>
      <p:sp>
        <p:nvSpPr>
          <p:cNvPr id="56" name="Text 54"/>
          <p:cNvSpPr/>
          <p:nvPr/>
        </p:nvSpPr>
        <p:spPr>
          <a:xfrm>
            <a:off x="8403336" y="2786177"/>
            <a:ext cx="3529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9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Per-agent tool allow-list; read-only by default</a:t>
            </a:r>
            <a:endParaRPr lang="en-US" sz="690" dirty="0"/>
          </a:p>
        </p:txBody>
      </p:sp>
      <p:sp>
        <p:nvSpPr>
          <p:cNvPr id="57" name="Text 55"/>
          <p:cNvSpPr/>
          <p:nvPr/>
        </p:nvSpPr>
        <p:spPr>
          <a:xfrm>
            <a:off x="8403336" y="2935224"/>
            <a:ext cx="3529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9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Grounding + citation enforcement on every claim</a:t>
            </a:r>
            <a:endParaRPr lang="en-US" sz="690" dirty="0"/>
          </a:p>
        </p:txBody>
      </p:sp>
      <p:sp>
        <p:nvSpPr>
          <p:cNvPr id="58" name="Text 56"/>
          <p:cNvSpPr/>
          <p:nvPr/>
        </p:nvSpPr>
        <p:spPr>
          <a:xfrm>
            <a:off x="8403336" y="3084271"/>
            <a:ext cx="3529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9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Medical QA Verifier (2nd validator)</a:t>
            </a:r>
            <a:endParaRPr lang="en-US" sz="690" dirty="0"/>
          </a:p>
        </p:txBody>
      </p:sp>
      <p:sp>
        <p:nvSpPr>
          <p:cNvPr id="59" name="Text 57"/>
          <p:cNvSpPr/>
          <p:nvPr/>
        </p:nvSpPr>
        <p:spPr>
          <a:xfrm>
            <a:off x="8403336" y="3233318"/>
            <a:ext cx="3529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9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No-decision policy — blocked in and out</a:t>
            </a:r>
            <a:endParaRPr lang="en-US" sz="690" dirty="0"/>
          </a:p>
        </p:txBody>
      </p:sp>
      <p:sp>
        <p:nvSpPr>
          <p:cNvPr id="60" name="Text 58"/>
          <p:cNvSpPr/>
          <p:nvPr/>
        </p:nvSpPr>
        <p:spPr>
          <a:xfrm>
            <a:off x="8403336" y="3382366"/>
            <a:ext cx="3529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9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No evidence → INSUFFICIENT, never CONSISTENT (code-enforced)</a:t>
            </a:r>
            <a:endParaRPr lang="en-US" sz="690" dirty="0"/>
          </a:p>
        </p:txBody>
      </p:sp>
      <p:sp>
        <p:nvSpPr>
          <p:cNvPr id="61" name="Text 59"/>
          <p:cNvSpPr/>
          <p:nvPr/>
        </p:nvSpPr>
        <p:spPr>
          <a:xfrm>
            <a:off x="8403336" y="3531413"/>
            <a:ext cx="3529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9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Human-in-the-loop: escalate on low confidence</a:t>
            </a:r>
            <a:endParaRPr lang="en-US" sz="690" dirty="0"/>
          </a:p>
        </p:txBody>
      </p:sp>
      <p:sp>
        <p:nvSpPr>
          <p:cNvPr id="62" name="Shape 60"/>
          <p:cNvSpPr/>
          <p:nvPr/>
        </p:nvSpPr>
        <p:spPr>
          <a:xfrm>
            <a:off x="320040" y="3583534"/>
            <a:ext cx="3803904" cy="1409090"/>
          </a:xfrm>
          <a:prstGeom prst="roundRect">
            <a:avLst>
              <a:gd name="adj" fmla="val 3245"/>
            </a:avLst>
          </a:prstGeom>
          <a:solidFill>
            <a:srgbClr val="17203A"/>
          </a:solidFill>
          <a:ln w="12700">
            <a:solidFill>
              <a:srgbClr val="3545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320040" y="3583534"/>
            <a:ext cx="68580" cy="1409090"/>
          </a:xfrm>
          <a:prstGeom prst="roundRect">
            <a:avLst>
              <a:gd name="adj" fmla="val 26667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484632" y="3629254"/>
            <a:ext cx="3529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80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484632" y="3848710"/>
            <a:ext cx="3529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9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Entra ID; OBO for user-scoped data access</a:t>
            </a:r>
            <a:endParaRPr lang="en-US" sz="690" dirty="0"/>
          </a:p>
        </p:txBody>
      </p:sp>
      <p:sp>
        <p:nvSpPr>
          <p:cNvPr id="66" name="Text 64"/>
          <p:cNvSpPr/>
          <p:nvPr/>
        </p:nvSpPr>
        <p:spPr>
          <a:xfrm>
            <a:off x="484632" y="3997757"/>
            <a:ext cx="3529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9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AKS Workload Identity → Key Vault / AI Search / Storage</a:t>
            </a:r>
            <a:endParaRPr lang="en-US" sz="690" dirty="0"/>
          </a:p>
        </p:txBody>
      </p:sp>
      <p:sp>
        <p:nvSpPr>
          <p:cNvPr id="67" name="Text 65"/>
          <p:cNvSpPr/>
          <p:nvPr/>
        </p:nvSpPr>
        <p:spPr>
          <a:xfrm>
            <a:off x="484632" y="4146804"/>
            <a:ext cx="3529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9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Private endpoints only; public egress denied</a:t>
            </a:r>
            <a:endParaRPr lang="en-US" sz="690" dirty="0"/>
          </a:p>
        </p:txBody>
      </p:sp>
      <p:sp>
        <p:nvSpPr>
          <p:cNvPr id="68" name="Text 66"/>
          <p:cNvSpPr/>
          <p:nvPr/>
        </p:nvSpPr>
        <p:spPr>
          <a:xfrm>
            <a:off x="484632" y="4295851"/>
            <a:ext cx="3529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9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Kubernetes NetworkPolicy — pod-to-pod deny-by-default</a:t>
            </a:r>
            <a:endParaRPr lang="en-US" sz="690" dirty="0"/>
          </a:p>
        </p:txBody>
      </p:sp>
      <p:sp>
        <p:nvSpPr>
          <p:cNvPr id="69" name="Text 67"/>
          <p:cNvSpPr/>
          <p:nvPr/>
        </p:nvSpPr>
        <p:spPr>
          <a:xfrm>
            <a:off x="484632" y="4444898"/>
            <a:ext cx="3529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9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Namespace-per-environment; RBAC least privilege</a:t>
            </a:r>
            <a:endParaRPr lang="en-US" sz="690" dirty="0"/>
          </a:p>
        </p:txBody>
      </p:sp>
      <p:sp>
        <p:nvSpPr>
          <p:cNvPr id="70" name="Text 68"/>
          <p:cNvSpPr/>
          <p:nvPr/>
        </p:nvSpPr>
        <p:spPr>
          <a:xfrm>
            <a:off x="484632" y="4593946"/>
            <a:ext cx="3529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9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TLS 1.3 in transit; CMK at rest</a:t>
            </a:r>
            <a:endParaRPr lang="en-US" sz="690" dirty="0"/>
          </a:p>
        </p:txBody>
      </p:sp>
      <p:sp>
        <p:nvSpPr>
          <p:cNvPr id="71" name="Text 69"/>
          <p:cNvSpPr/>
          <p:nvPr/>
        </p:nvSpPr>
        <p:spPr>
          <a:xfrm>
            <a:off x="484632" y="4742993"/>
            <a:ext cx="3529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9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Azure Policy for AKS; no privileged containers</a:t>
            </a:r>
            <a:endParaRPr lang="en-US" sz="690" dirty="0"/>
          </a:p>
        </p:txBody>
      </p:sp>
      <p:sp>
        <p:nvSpPr>
          <p:cNvPr id="72" name="Shape 70"/>
          <p:cNvSpPr/>
          <p:nvPr/>
        </p:nvSpPr>
        <p:spPr>
          <a:xfrm>
            <a:off x="4279392" y="3583534"/>
            <a:ext cx="3803904" cy="1260043"/>
          </a:xfrm>
          <a:prstGeom prst="roundRect">
            <a:avLst>
              <a:gd name="adj" fmla="val 3628"/>
            </a:avLst>
          </a:prstGeom>
          <a:solidFill>
            <a:srgbClr val="17203A"/>
          </a:solidFill>
          <a:ln w="12700">
            <a:solidFill>
              <a:srgbClr val="3545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Shape 71"/>
          <p:cNvSpPr/>
          <p:nvPr/>
        </p:nvSpPr>
        <p:spPr>
          <a:xfrm>
            <a:off x="4279392" y="3583534"/>
            <a:ext cx="68580" cy="1260043"/>
          </a:xfrm>
          <a:prstGeom prst="roundRect">
            <a:avLst>
              <a:gd name="adj" fmla="val 26667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72"/>
          <p:cNvSpPr/>
          <p:nvPr/>
        </p:nvSpPr>
        <p:spPr>
          <a:xfrm>
            <a:off x="4443984" y="3629254"/>
            <a:ext cx="3529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8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 / SECRETS</a:t>
            </a:r>
            <a:endParaRPr lang="en-US" sz="850" dirty="0"/>
          </a:p>
        </p:txBody>
      </p:sp>
      <p:sp>
        <p:nvSpPr>
          <p:cNvPr id="75" name="Text 73"/>
          <p:cNvSpPr/>
          <p:nvPr/>
        </p:nvSpPr>
        <p:spPr>
          <a:xfrm>
            <a:off x="4443984" y="3848710"/>
            <a:ext cx="3529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9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Non-secret config → ConfigMap / App Configuration</a:t>
            </a:r>
            <a:endParaRPr lang="en-US" sz="690" dirty="0"/>
          </a:p>
        </p:txBody>
      </p:sp>
      <p:sp>
        <p:nvSpPr>
          <p:cNvPr id="76" name="Text 74"/>
          <p:cNvSpPr/>
          <p:nvPr/>
        </p:nvSpPr>
        <p:spPr>
          <a:xfrm>
            <a:off x="4443984" y="3997757"/>
            <a:ext cx="3529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9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Secrets → Key Vault via CSI Secrets Store driver</a:t>
            </a:r>
            <a:endParaRPr lang="en-US" sz="690" dirty="0"/>
          </a:p>
        </p:txBody>
      </p:sp>
      <p:sp>
        <p:nvSpPr>
          <p:cNvPr id="77" name="Text 75"/>
          <p:cNvSpPr/>
          <p:nvPr/>
        </p:nvSpPr>
        <p:spPr>
          <a:xfrm>
            <a:off x="4443984" y="4146804"/>
            <a:ext cx="3529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9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Helm values hold references, never secret values</a:t>
            </a:r>
            <a:endParaRPr lang="en-US" sz="690" dirty="0"/>
          </a:p>
        </p:txBody>
      </p:sp>
      <p:sp>
        <p:nvSpPr>
          <p:cNvPr id="78" name="Text 76"/>
          <p:cNvSpPr/>
          <p:nvPr/>
        </p:nvSpPr>
        <p:spPr>
          <a:xfrm>
            <a:off x="4443984" y="4295851"/>
            <a:ext cx="3529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9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Prompts versioned in Git, mounted as ConfigMap</a:t>
            </a:r>
            <a:endParaRPr lang="en-US" sz="690" dirty="0"/>
          </a:p>
        </p:txBody>
      </p:sp>
      <p:sp>
        <p:nvSpPr>
          <p:cNvPr id="79" name="Text 77"/>
          <p:cNvSpPr/>
          <p:nvPr/>
        </p:nvSpPr>
        <p:spPr>
          <a:xfrm>
            <a:off x="4443984" y="4444898"/>
            <a:ext cx="3529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9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Rules YAML (lookback) mounted as ConfigMap</a:t>
            </a:r>
            <a:endParaRPr lang="en-US" sz="690" dirty="0"/>
          </a:p>
        </p:txBody>
      </p:sp>
      <p:sp>
        <p:nvSpPr>
          <p:cNvPr id="80" name="Text 78"/>
          <p:cNvSpPr/>
          <p:nvPr/>
        </p:nvSpPr>
        <p:spPr>
          <a:xfrm>
            <a:off x="4443984" y="4593946"/>
            <a:ext cx="3529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9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APP_ENV is the only env-specific input to the image</a:t>
            </a:r>
            <a:endParaRPr lang="en-US" sz="690" dirty="0"/>
          </a:p>
        </p:txBody>
      </p:sp>
      <p:sp>
        <p:nvSpPr>
          <p:cNvPr id="81" name="Shape 79"/>
          <p:cNvSpPr/>
          <p:nvPr/>
        </p:nvSpPr>
        <p:spPr>
          <a:xfrm>
            <a:off x="8238744" y="3881628"/>
            <a:ext cx="3803904" cy="1260043"/>
          </a:xfrm>
          <a:prstGeom prst="roundRect">
            <a:avLst>
              <a:gd name="adj" fmla="val 3628"/>
            </a:avLst>
          </a:prstGeom>
          <a:solidFill>
            <a:srgbClr val="17203A"/>
          </a:solidFill>
          <a:ln w="12700">
            <a:solidFill>
              <a:srgbClr val="3545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Shape 80"/>
          <p:cNvSpPr/>
          <p:nvPr/>
        </p:nvSpPr>
        <p:spPr>
          <a:xfrm>
            <a:off x="8238744" y="3881628"/>
            <a:ext cx="68580" cy="1260043"/>
          </a:xfrm>
          <a:prstGeom prst="roundRect">
            <a:avLst>
              <a:gd name="adj" fmla="val 26667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Text 81"/>
          <p:cNvSpPr/>
          <p:nvPr/>
        </p:nvSpPr>
        <p:spPr>
          <a:xfrm>
            <a:off x="8403336" y="3927348"/>
            <a:ext cx="3529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8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RELIABILITY</a:t>
            </a:r>
            <a:endParaRPr lang="en-US" sz="850" dirty="0"/>
          </a:p>
        </p:txBody>
      </p:sp>
      <p:sp>
        <p:nvSpPr>
          <p:cNvPr id="84" name="Text 82"/>
          <p:cNvSpPr/>
          <p:nvPr/>
        </p:nvSpPr>
        <p:spPr>
          <a:xfrm>
            <a:off x="8403336" y="4146804"/>
            <a:ext cx="3529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9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readiness / liveness / startup probes on every pod</a:t>
            </a:r>
            <a:endParaRPr lang="en-US" sz="690" dirty="0"/>
          </a:p>
        </p:txBody>
      </p:sp>
      <p:sp>
        <p:nvSpPr>
          <p:cNvPr id="85" name="Text 83"/>
          <p:cNvSpPr/>
          <p:nvPr/>
        </p:nvSpPr>
        <p:spPr>
          <a:xfrm>
            <a:off x="8403336" y="4295851"/>
            <a:ext cx="3529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9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Multi-replica (min 2) for API and orchestrator</a:t>
            </a:r>
            <a:endParaRPr lang="en-US" sz="690" dirty="0"/>
          </a:p>
        </p:txBody>
      </p:sp>
      <p:sp>
        <p:nvSpPr>
          <p:cNvPr id="86" name="Text 84"/>
          <p:cNvSpPr/>
          <p:nvPr/>
        </p:nvSpPr>
        <p:spPr>
          <a:xfrm>
            <a:off x="8403336" y="4444898"/>
            <a:ext cx="3529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9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Circuit breaker + retry/backoff on tool calls</a:t>
            </a:r>
            <a:endParaRPr lang="en-US" sz="690" dirty="0"/>
          </a:p>
        </p:txBody>
      </p:sp>
      <p:sp>
        <p:nvSpPr>
          <p:cNvPr id="87" name="Text 85"/>
          <p:cNvSpPr/>
          <p:nvPr/>
        </p:nvSpPr>
        <p:spPr>
          <a:xfrm>
            <a:off x="8403336" y="4593946"/>
            <a:ext cx="3529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9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Graceful degradation: partial result + explicit gap note</a:t>
            </a:r>
            <a:endParaRPr lang="en-US" sz="690" dirty="0"/>
          </a:p>
        </p:txBody>
      </p:sp>
      <p:sp>
        <p:nvSpPr>
          <p:cNvPr id="88" name="Text 86"/>
          <p:cNvSpPr/>
          <p:nvPr/>
        </p:nvSpPr>
        <p:spPr>
          <a:xfrm>
            <a:off x="8403336" y="4742993"/>
            <a:ext cx="3529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9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Kill switch via feature flag — no redeploy</a:t>
            </a:r>
            <a:endParaRPr lang="en-US" sz="690" dirty="0"/>
          </a:p>
        </p:txBody>
      </p:sp>
      <p:sp>
        <p:nvSpPr>
          <p:cNvPr id="89" name="Text 87"/>
          <p:cNvSpPr/>
          <p:nvPr/>
        </p:nvSpPr>
        <p:spPr>
          <a:xfrm>
            <a:off x="8403336" y="4892040"/>
            <a:ext cx="3529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9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Cluster autoscaler for node capacity</a:t>
            </a:r>
            <a:endParaRPr lang="en-US" sz="690" dirty="0"/>
          </a:p>
        </p:txBody>
      </p:sp>
      <p:sp>
        <p:nvSpPr>
          <p:cNvPr id="90" name="Shape 88"/>
          <p:cNvSpPr/>
          <p:nvPr/>
        </p:nvSpPr>
        <p:spPr>
          <a:xfrm>
            <a:off x="4279392" y="4944161"/>
            <a:ext cx="3803904" cy="1409090"/>
          </a:xfrm>
          <a:prstGeom prst="roundRect">
            <a:avLst>
              <a:gd name="adj" fmla="val 3245"/>
            </a:avLst>
          </a:prstGeom>
          <a:solidFill>
            <a:srgbClr val="17203A"/>
          </a:solidFill>
          <a:ln w="12700">
            <a:solidFill>
              <a:srgbClr val="3545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Shape 89"/>
          <p:cNvSpPr/>
          <p:nvPr/>
        </p:nvSpPr>
        <p:spPr>
          <a:xfrm>
            <a:off x="4279392" y="4944161"/>
            <a:ext cx="68580" cy="1409090"/>
          </a:xfrm>
          <a:prstGeom prst="roundRect">
            <a:avLst>
              <a:gd name="adj" fmla="val 26667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Text 90"/>
          <p:cNvSpPr/>
          <p:nvPr/>
        </p:nvSpPr>
        <p:spPr>
          <a:xfrm>
            <a:off x="4443984" y="4989881"/>
            <a:ext cx="3529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8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OBSERVABILITY</a:t>
            </a:r>
            <a:endParaRPr lang="en-US" sz="850" dirty="0"/>
          </a:p>
        </p:txBody>
      </p:sp>
      <p:sp>
        <p:nvSpPr>
          <p:cNvPr id="93" name="Text 91"/>
          <p:cNvSpPr/>
          <p:nvPr/>
        </p:nvSpPr>
        <p:spPr>
          <a:xfrm>
            <a:off x="4443984" y="5209337"/>
            <a:ext cx="3529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9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OpenTelemetry → App Insights + Container Insights</a:t>
            </a:r>
            <a:endParaRPr lang="en-US" sz="690" dirty="0"/>
          </a:p>
        </p:txBody>
      </p:sp>
      <p:sp>
        <p:nvSpPr>
          <p:cNvPr id="94" name="Text 92"/>
          <p:cNvSpPr/>
          <p:nvPr/>
        </p:nvSpPr>
        <p:spPr>
          <a:xfrm>
            <a:off x="4443984" y="5358384"/>
            <a:ext cx="3529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9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PHI redacted at emitter — never in traces</a:t>
            </a:r>
            <a:endParaRPr lang="en-US" sz="690" dirty="0"/>
          </a:p>
        </p:txBody>
      </p:sp>
      <p:sp>
        <p:nvSpPr>
          <p:cNvPr id="95" name="Text 93"/>
          <p:cNvSpPr/>
          <p:nvPr/>
        </p:nvSpPr>
        <p:spPr>
          <a:xfrm>
            <a:off x="4443984" y="5507431"/>
            <a:ext cx="3529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9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Per-request: image tag, git SHA, model version, prompt version</a:t>
            </a:r>
            <a:endParaRPr lang="en-US" sz="690" dirty="0"/>
          </a:p>
        </p:txBody>
      </p:sp>
      <p:sp>
        <p:nvSpPr>
          <p:cNvPr id="96" name="Text 94"/>
          <p:cNvSpPr/>
          <p:nvPr/>
        </p:nvSpPr>
        <p:spPr>
          <a:xfrm>
            <a:off x="4443984" y="5656478"/>
            <a:ext cx="3529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9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Metrics: p95 latency, tool errors, 429s, cost/session</a:t>
            </a:r>
            <a:endParaRPr lang="en-US" sz="690" dirty="0"/>
          </a:p>
        </p:txBody>
      </p:sp>
      <p:sp>
        <p:nvSpPr>
          <p:cNvPr id="97" name="Text 95"/>
          <p:cNvSpPr/>
          <p:nvPr/>
        </p:nvSpPr>
        <p:spPr>
          <a:xfrm>
            <a:off x="4443984" y="5805526"/>
            <a:ext cx="3529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9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Guardrail-violation counter (alert on any)</a:t>
            </a:r>
            <a:endParaRPr lang="en-US" sz="690" dirty="0"/>
          </a:p>
        </p:txBody>
      </p:sp>
      <p:sp>
        <p:nvSpPr>
          <p:cNvPr id="98" name="Text 96"/>
          <p:cNvSpPr/>
          <p:nvPr/>
        </p:nvSpPr>
        <p:spPr>
          <a:xfrm>
            <a:off x="4443984" y="5954573"/>
            <a:ext cx="3529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9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Groundedness sampled on live traffic</a:t>
            </a:r>
            <a:endParaRPr lang="en-US" sz="690" dirty="0"/>
          </a:p>
        </p:txBody>
      </p:sp>
      <p:sp>
        <p:nvSpPr>
          <p:cNvPr id="99" name="Text 97"/>
          <p:cNvSpPr/>
          <p:nvPr/>
        </p:nvSpPr>
        <p:spPr>
          <a:xfrm>
            <a:off x="4443984" y="6103620"/>
            <a:ext cx="3529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9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Alerts → Azure Monitor → Teams / pager</a:t>
            </a:r>
            <a:endParaRPr lang="en-US" sz="690" dirty="0"/>
          </a:p>
        </p:txBody>
      </p:sp>
      <p:sp>
        <p:nvSpPr>
          <p:cNvPr id="100" name="Text 98"/>
          <p:cNvSpPr/>
          <p:nvPr/>
        </p:nvSpPr>
        <p:spPr>
          <a:xfrm>
            <a:off x="320040" y="6455664"/>
            <a:ext cx="11731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A7B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Foundry-independent: Optum LLM Gateway (gpt-5) · Azure AI Search · Azure Document Intelligence  |  Taken in-house: agent runtime, orchestration state, agent tracing, evaluation harness, guardrail layer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1211</Words>
  <Application>Microsoft Office PowerPoint</Application>
  <PresentationFormat>Widescreen</PresentationFormat>
  <Paragraphs>161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4" baseType="lpstr"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2026-09-01T14:33:57Z</dcterms:created>
  <dcterms:modified xsi:type="dcterms:W3CDTF">2026-09-01T14:45:51Z</dcterms:modified>
</cp:coreProperties>
</file>