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31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6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Arize AX for UW AI Assist POC — What it is &amp; Why it matters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38328" y="53035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AI observability/evaluation layer: it does not run agents; it shows what happened, whether it was correct, and how to improve it before production.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78408"/>
            <a:ext cx="3154680" cy="1143000"/>
          </a:xfrm>
          <a:prstGeom prst="rect">
            <a:avLst/>
          </a:prstGeom>
          <a:solidFill>
            <a:srgbClr val="EAF3FF"/>
          </a:solidFill>
          <a:ln w="8890">
            <a:solidFill>
              <a:srgbClr val="8DB8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Arize AX receives sanitized OpenTelemetry/OpenInference events from the POC and turns them into traces, evaluations, dashboards, alerts, datasets and experiments.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978408"/>
            <a:ext cx="3154680" cy="1143000"/>
          </a:xfrm>
          <a:prstGeom prst="rect">
            <a:avLst/>
          </a:prstGeom>
          <a:solidFill>
            <a:srgbClr val="EAF6EE"/>
          </a:solidFill>
          <a:ln w="8890">
            <a:solidFill>
              <a:srgbClr val="9BD8A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runtime stays the same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LangGraph + agents run in AKS. Azure AI Search, MuleSoft, Optum LLM Gateway and Salesforce remain separate services.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95160" y="978408"/>
            <a:ext cx="4873752" cy="1143000"/>
          </a:xfrm>
          <a:prstGeom prst="rect">
            <a:avLst/>
          </a:prstGeom>
          <a:solidFill>
            <a:srgbClr val="FFF3D8"/>
          </a:solidFill>
          <a:ln w="8890">
            <a:solidFill>
              <a:srgbClr val="F4C87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to reviewers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can answer: did it retrieve the right data, did the model hallucinate, did guardrails catch it, did a rule change drift, and did latency/cost increase?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1481328" cy="530352"/>
          </a:xfrm>
          <a:prstGeom prst="rect">
            <a:avLst/>
          </a:prstGeom>
          <a:solidFill>
            <a:srgbClr val="007A78"/>
          </a:solidFill>
          <a:ln>
            <a:solidFill>
              <a:srgbClr val="007A7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Salesforce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UW question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847088" y="25237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39112" y="2395728"/>
            <a:ext cx="1481328" cy="53035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3520440" y="25237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12464" y="2395728"/>
            <a:ext cx="1481328" cy="53035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5193792" y="25237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85816" y="2395728"/>
            <a:ext cx="1481328" cy="53035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/ Vector / Summary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6867144" y="25237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59168" y="2395728"/>
            <a:ext cx="1481328" cy="53035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Search / MuleSoft / LLM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8540496" y="25237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32520" y="2395728"/>
            <a:ext cx="1481328" cy="530352"/>
          </a:xfrm>
          <a:prstGeom prst="rect">
            <a:avLst/>
          </a:prstGeom>
          <a:solidFill>
            <a:srgbClr val="B00020"/>
          </a:solidFill>
          <a:ln>
            <a:solidFill>
              <a:srgbClr val="B000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/ PHI / QA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0213848" y="25237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05872" y="2395728"/>
            <a:ext cx="1481328" cy="530352"/>
          </a:xfrm>
          <a:prstGeom prst="rect">
            <a:avLst/>
          </a:prstGeom>
          <a:solidFill>
            <a:srgbClr val="0E7C3A"/>
          </a:solidFill>
          <a:ln>
            <a:solidFill>
              <a:srgbClr val="0E7C3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Arize AX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+ Eval + Signal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594360" y="3337560"/>
            <a:ext cx="3383280" cy="2148840"/>
          </a:xfrm>
          <a:prstGeom prst="rect">
            <a:avLst/>
          </a:prstGeom>
          <a:solidFill>
            <a:srgbClr val="FFFFFF"/>
          </a:solidFill>
          <a:ln w="8890">
            <a:solidFill>
              <a:srgbClr val="94A3B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output in Arize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Trace: qa_request_8831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intent.route = BOTH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vector.retrieval_count = 8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llm.model = gpt-5 via gateway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eval.groundedness = FAIL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guardrail.status = QUARANTINED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latency.p95 contribution = LLM 62%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43400" y="3337560"/>
            <a:ext cx="3383280" cy="2148840"/>
          </a:xfrm>
          <a:prstGeom prst="rect">
            <a:avLst/>
          </a:prstGeom>
          <a:solidFill>
            <a:srgbClr val="FFFFFF"/>
          </a:solidFill>
          <a:ln w="8890">
            <a:solidFill>
              <a:srgbClr val="94A3B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team sees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End-to-end request tree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agent/tool failed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Guardrail/citation result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RuleEngine drift label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Token/cost/latency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Recurring patterns via Signal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Failed traces converted to regression cases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92440" y="3337560"/>
            <a:ext cx="3383280" cy="2148840"/>
          </a:xfrm>
          <a:prstGeom prst="rect">
            <a:avLst/>
          </a:prstGeom>
          <a:solidFill>
            <a:srgbClr val="FFFFFF"/>
          </a:solidFill>
          <a:ln w="8890">
            <a:solidFill>
              <a:srgbClr val="94A3B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in POC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init_tracing() at startup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named spans around agents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guardrail spans around verifier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retrieval/tool attributes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evaluators/datasets/experiments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PHI redacted or internal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59893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Positioning statement: Arize AX is our AI quality control plane around the POC — trace → evaluate → detect pattern → create dataset → compare fix → promote safely.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6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Arize AX topic map — Website concepts mapped to our POC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38328" y="53035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One-slide overview of the main Arize AX areas and the underwriting example for each.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2788920" cy="612648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OpenTelemetry/OpenInference setup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init_tracing() before FastAPI imports agents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3310128" y="960120"/>
            <a:ext cx="2788920" cy="612648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execution tree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UW request → intent → SQL/vector → LLM → guardrail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6300216" y="960120"/>
            <a:ext cx="2788920" cy="612648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Spans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operation inside a trace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VectorAgent.retrieve(), MuleSoft call, GroundingVerifier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9290304" y="960120"/>
            <a:ext cx="2788920" cy="612648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quality/safety automatically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groundedness=FAIL, route_accuracy=PASS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20040" y="1709928"/>
            <a:ext cx="2788920" cy="612648"/>
          </a:xfrm>
          <a:prstGeom prst="rect">
            <a:avLst/>
          </a:prstGeom>
          <a:solidFill>
            <a:srgbClr val="F7F9FC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Evals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new traces as traffic comes in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score every Q&amp;A answer for groundedness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310128" y="1709928"/>
            <a:ext cx="2788920" cy="612648"/>
          </a:xfrm>
          <a:prstGeom prst="rect">
            <a:avLst/>
          </a:prstGeom>
          <a:solidFill>
            <a:srgbClr val="F7F9FC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Evals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Scheduled/code-based checks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replay RuleEngine every 30 mins as AKS CronJob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300216" y="1709928"/>
            <a:ext cx="2788920" cy="612648"/>
          </a:xfrm>
          <a:prstGeom prst="rect">
            <a:avLst/>
          </a:prstGeom>
          <a:solidFill>
            <a:srgbClr val="F7F9FC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Spans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safety checks filterable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citation_resolved=false → QUARANTINED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9290304" y="1709928"/>
            <a:ext cx="2788920" cy="612648"/>
          </a:xfrm>
          <a:prstGeom prst="rect">
            <a:avLst/>
          </a:prstGeom>
          <a:solidFill>
            <a:srgbClr val="F7F9FC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recurring failure patterns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hospitalization Q&amp;A grounding failures increased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20040" y="2459736"/>
            <a:ext cx="2788920" cy="612648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cases from failures/synthetic tests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9 golden UW cases + production fail traces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310128" y="2459736"/>
            <a:ext cx="2788920" cy="612648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versions fairly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current prompt vs candidate prompt on same dataset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300216" y="2459736"/>
            <a:ext cx="2788920" cy="612648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prompt lifecycle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Q&amp;A prompt v1/v2/v3; keep Git first for POC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9290304" y="2459736"/>
            <a:ext cx="2788920" cy="612648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Underwriter annotations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correct / missing evidence / not useful labels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20040" y="3209544"/>
            <a:ext cx="2788920" cy="612648"/>
          </a:xfrm>
          <a:prstGeom prst="rect">
            <a:avLst/>
          </a:prstGeom>
          <a:solidFill>
            <a:srgbClr val="F7F9FC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views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latency, tokens, cost, eval failure %, drift count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310128" y="3209544"/>
            <a:ext cx="2788920" cy="612648"/>
          </a:xfrm>
          <a:prstGeom prst="rect">
            <a:avLst/>
          </a:prstGeom>
          <a:solidFill>
            <a:srgbClr val="F7F9FC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Alerts/Monitoring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Threshold-based notification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quarantine ratio &gt; 10% or 429 spike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300216" y="3209544"/>
            <a:ext cx="2788920" cy="612648"/>
          </a:xfrm>
          <a:prstGeom prst="rect">
            <a:avLst/>
          </a:prstGeom>
          <a:solidFill>
            <a:srgbClr val="F7F9FC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Alyx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 analysis in Arize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ask “why did Q&amp;A failures spike yesterday?”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9290304" y="3209544"/>
            <a:ext cx="2788920" cy="612648"/>
          </a:xfrm>
          <a:prstGeom prst="rect">
            <a:avLst/>
          </a:prstGeom>
          <a:solidFill>
            <a:srgbClr val="F7F9FC"/>
          </a:solidFill>
          <a:ln w="8890">
            <a:solidFill>
              <a:srgbClr val="BBD2F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 / CLI / Skills / MCP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Ways to operate AX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Python SDK for automation; UI for POC review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57200" y="5925312"/>
            <a:ext cx="11201400" cy="384048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rule for our POC: Start with Instrument → Traces → Guardrail spans → Evaluations → Signal → Dataset → Experiment. Keep Skills/Alyx/MCP as developer productivity options, not runtime dependencies.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6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 workflow — failure/observation catalog with code and Arize 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38328" y="53035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3-column view requested: where in POC, what can go wrong, and how Arize shows it.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2953512" cy="292608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+ code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291840" y="960120"/>
            <a:ext cx="3776472" cy="292608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issue / failure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086600" y="960120"/>
            <a:ext cx="4782312" cy="292608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Arize AX view / sample output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295351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Entry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/ src/api/main.py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/ask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3291840" y="1252728"/>
            <a:ext cx="377647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payload, missing member/case, request timeout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7086600" y="1252728"/>
            <a:ext cx="478231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root shows HTTP status; request.validation=FAIL; latency/request_id captured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320040" y="1824736"/>
            <a:ext cx="295351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Guardrail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src/agents/guardrail.py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policy.check_input()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3291840" y="1824736"/>
            <a:ext cx="377647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injection, PHI overexposure request, unsupported task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7086600" y="1824736"/>
            <a:ext cx="478231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span: policy=PII_ACCESS, action=BLOCKED, severity=critical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320040" y="2396744"/>
            <a:ext cx="295351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Agent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src/agents/intent_agent.py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classify_intent()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3291840" y="2396744"/>
            <a:ext cx="377647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route: SQL instead of Vector/BOTH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7086600" y="2396744"/>
            <a:ext cx="478231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Eval: intent_accuracy=FAIL; Signal: recurring route mismatch for medication questions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320040" y="2968752"/>
            <a:ext cx="295351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Agent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src/agents/sql_agent.py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generate_sql()/execute()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3291840" y="2968752"/>
            <a:ext cx="377647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table/column, empty rows, hallucinated SQL, slow query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7086600" y="2968752"/>
            <a:ext cx="478231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span: sql.error, row_count=0, duration=2.8s; eval.sql_correctness=FAIL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320040" y="3540760"/>
            <a:ext cx="295351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Agent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src/agents/vector_agent.py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HybridRetriever.retrieve()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3291840" y="3540760"/>
            <a:ext cx="377647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Irrelevant chunk, wrong source, low score, missing citation metadata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7086600" y="3540760"/>
            <a:ext cx="478231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 span: top_k, chunk_id, score; eval.retrieval_relevance=0.28 FAIL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320040" y="4112768"/>
            <a:ext cx="295351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 Agent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src/agents/chatbot_agent.py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generate_response()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3291840" y="4112768"/>
            <a:ext cx="377647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evidence retrieved but answer invents unsupported claim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7086600" y="4112768"/>
            <a:ext cx="478231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span + groundedness eval: FAIL; missing citation statement highlighted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320040" y="4684776"/>
            <a:ext cx="295351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Verifier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src/grounding/verifier.py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verify_claim()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3291840" y="4684776"/>
            <a:ext cx="377647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unresolved, numeric/date mismatch, unsupported claim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7086600" y="4684776"/>
            <a:ext cx="478231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span: citation_resolved=false; entailment=contradiction; status=QUARANTINED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320040" y="5256784"/>
            <a:ext cx="295351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Guardrail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guardrails/policy.py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check_output()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3291840" y="5256784"/>
            <a:ext cx="377647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gives final underwriting decision or unsafe statement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7086600" y="5256784"/>
            <a:ext cx="4782312" cy="553720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policy.no_decision=FAIL; action=ESCALATE; response blocked before Salesforce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320040" y="5828792"/>
            <a:ext cx="295351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Return</a:t>
            </a:r>
            <a:endParaRPr lang="en-US" sz="770" dirty="0"/>
          </a:p>
          <a:p>
            <a:pPr marL="0" indent="0" algn="l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/ response builder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3291840" y="5828792"/>
            <a:ext cx="377647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route/grounding/citation/latency metadata returned to UI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7086600" y="5828792"/>
            <a:ext cx="4782312" cy="553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attributes show response fields; code eval checks required output shape</a:t>
            </a:r>
            <a:endParaRPr lang="en-US" sz="7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6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workflow — extraction, rules, narrative and QA observations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38328" y="53035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maps the Copilot prompt flow shown in the screenshots to practical Arize AX trace/eval outputs.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2953512" cy="292608"/>
          </a:xfrm>
          <a:prstGeom prst="rect">
            <a:avLst/>
          </a:prstGeom>
          <a:solidFill>
            <a:srgbClr val="007A78"/>
          </a:solidFill>
          <a:ln w="8890">
            <a:solidFill>
              <a:srgbClr val="007A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+ code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291840" y="960120"/>
            <a:ext cx="3776472" cy="292608"/>
          </a:xfrm>
          <a:prstGeom prst="rect">
            <a:avLst/>
          </a:prstGeom>
          <a:solidFill>
            <a:srgbClr val="007A78"/>
          </a:solidFill>
          <a:ln w="8890">
            <a:solidFill>
              <a:srgbClr val="007A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issue / failure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086600" y="960120"/>
            <a:ext cx="4782312" cy="292608"/>
          </a:xfrm>
          <a:prstGeom prst="rect">
            <a:avLst/>
          </a:prstGeom>
          <a:solidFill>
            <a:srgbClr val="007A78"/>
          </a:solidFill>
          <a:ln w="8890">
            <a:solidFill>
              <a:srgbClr val="007A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Arize AX view / sample output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29535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API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/ POST /summary</a:t>
            </a:r>
            <a:endParaRPr lang="en-US" sz="755" dirty="0"/>
          </a:p>
        </p:txBody>
      </p:sp>
      <p:sp>
        <p:nvSpPr>
          <p:cNvPr id="9" name="Text 7"/>
          <p:cNvSpPr/>
          <p:nvPr/>
        </p:nvSpPr>
        <p:spPr>
          <a:xfrm>
            <a:off x="3291840" y="1252728"/>
            <a:ext cx="377647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member selected, wrong case, no cache/state correlation</a:t>
            </a:r>
            <a:endParaRPr lang="en-US" sz="755" dirty="0"/>
          </a:p>
        </p:txBody>
      </p:sp>
      <p:sp>
        <p:nvSpPr>
          <p:cNvPr id="10" name="Text 8"/>
          <p:cNvSpPr/>
          <p:nvPr/>
        </p:nvSpPr>
        <p:spPr>
          <a:xfrm>
            <a:off x="7086600" y="1252728"/>
            <a:ext cx="47823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root: member_hash, case_id, summary_version, cache_hit=false</a:t>
            </a:r>
            <a:endParaRPr lang="en-US" sz="755" dirty="0"/>
          </a:p>
        </p:txBody>
      </p:sp>
      <p:sp>
        <p:nvSpPr>
          <p:cNvPr id="11" name="Text 9"/>
          <p:cNvSpPr/>
          <p:nvPr/>
        </p:nvSpPr>
        <p:spPr>
          <a:xfrm>
            <a:off x="320040" y="1767535"/>
            <a:ext cx="29535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Agent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src/agents/summary_agent.py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build_summary()</a:t>
            </a:r>
            <a:endParaRPr lang="en-US" sz="755" dirty="0"/>
          </a:p>
        </p:txBody>
      </p:sp>
      <p:sp>
        <p:nvSpPr>
          <p:cNvPr id="12" name="Text 10"/>
          <p:cNvSpPr/>
          <p:nvPr/>
        </p:nvSpPr>
        <p:spPr>
          <a:xfrm>
            <a:off x="3291840" y="1767535"/>
            <a:ext cx="377647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major section or wrong ordering of workflow</a:t>
            </a:r>
            <a:endParaRPr lang="en-US" sz="755" dirty="0"/>
          </a:p>
        </p:txBody>
      </p:sp>
      <p:sp>
        <p:nvSpPr>
          <p:cNvPr id="13" name="Text 11"/>
          <p:cNvSpPr/>
          <p:nvPr/>
        </p:nvSpPr>
        <p:spPr>
          <a:xfrm>
            <a:off x="7086600" y="1767535"/>
            <a:ext cx="47823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tree shows extractor/rules/narrative spans; eval.summary_completeness=FAIL</a:t>
            </a:r>
            <a:endParaRPr lang="en-US" sz="755" dirty="0"/>
          </a:p>
        </p:txBody>
      </p:sp>
      <p:sp>
        <p:nvSpPr>
          <p:cNvPr id="14" name="Text 12"/>
          <p:cNvSpPr/>
          <p:nvPr/>
        </p:nvSpPr>
        <p:spPr>
          <a:xfrm>
            <a:off x="320040" y="2282342"/>
            <a:ext cx="29535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 Extractor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src/utils/executive_summary_extractor.py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extract()</a:t>
            </a:r>
            <a:endParaRPr lang="en-US" sz="755" dirty="0"/>
          </a:p>
        </p:txBody>
      </p:sp>
      <p:sp>
        <p:nvSpPr>
          <p:cNvPr id="15" name="Text 13"/>
          <p:cNvSpPr/>
          <p:nvPr/>
        </p:nvSpPr>
        <p:spPr>
          <a:xfrm>
            <a:off x="3291840" y="2282342"/>
            <a:ext cx="377647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Condition/medication/provider missing from executive summary</a:t>
            </a:r>
            <a:endParaRPr lang="en-US" sz="755" dirty="0"/>
          </a:p>
        </p:txBody>
      </p:sp>
      <p:sp>
        <p:nvSpPr>
          <p:cNvPr id="16" name="Text 14"/>
          <p:cNvSpPr/>
          <p:nvPr/>
        </p:nvSpPr>
        <p:spPr>
          <a:xfrm>
            <a:off x="7086600" y="2282342"/>
            <a:ext cx="47823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Eval: extraction_accuracy=FAIL; Signal: “medication evidence often missing”</a:t>
            </a:r>
            <a:endParaRPr lang="en-US" sz="755" dirty="0"/>
          </a:p>
        </p:txBody>
      </p:sp>
      <p:sp>
        <p:nvSpPr>
          <p:cNvPr id="17" name="Text 15"/>
          <p:cNvSpPr/>
          <p:nvPr/>
        </p:nvSpPr>
        <p:spPr>
          <a:xfrm>
            <a:off x="320040" y="2797150"/>
            <a:ext cx="29535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Record Extractor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src/utils/medical_record_extractor.py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extract()</a:t>
            </a:r>
            <a:endParaRPr lang="en-US" sz="755" dirty="0"/>
          </a:p>
        </p:txBody>
      </p:sp>
      <p:sp>
        <p:nvSpPr>
          <p:cNvPr id="18" name="Text 16"/>
          <p:cNvSpPr/>
          <p:nvPr/>
        </p:nvSpPr>
        <p:spPr>
          <a:xfrm>
            <a:off x="3291840" y="2797150"/>
            <a:ext cx="377647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OCR/read issue, missed labs, wrong date, duplicate evidence</a:t>
            </a:r>
            <a:endParaRPr lang="en-US" sz="755" dirty="0"/>
          </a:p>
        </p:txBody>
      </p:sp>
      <p:sp>
        <p:nvSpPr>
          <p:cNvPr id="19" name="Text 17"/>
          <p:cNvSpPr/>
          <p:nvPr/>
        </p:nvSpPr>
        <p:spPr>
          <a:xfrm>
            <a:off x="7086600" y="2797150"/>
            <a:ext cx="47823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Document-processing span: extraction_quality=DRIFT; lab_confidence=0.32</a:t>
            </a:r>
            <a:endParaRPr lang="en-US" sz="755" dirty="0"/>
          </a:p>
        </p:txBody>
      </p:sp>
      <p:sp>
        <p:nvSpPr>
          <p:cNvPr id="20" name="Text 18"/>
          <p:cNvSpPr/>
          <p:nvPr/>
        </p:nvSpPr>
        <p:spPr>
          <a:xfrm>
            <a:off x="320040" y="3311957"/>
            <a:ext cx="29535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Mapping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src/rules/loader.py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load_evidence_maps()</a:t>
            </a:r>
            <a:endParaRPr lang="en-US" sz="755" dirty="0"/>
          </a:p>
        </p:txBody>
      </p:sp>
      <p:sp>
        <p:nvSpPr>
          <p:cNvPr id="21" name="Text 19"/>
          <p:cNvSpPr/>
          <p:nvPr/>
        </p:nvSpPr>
        <p:spPr>
          <a:xfrm>
            <a:off x="3291840" y="3311957"/>
            <a:ext cx="377647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mapped to wrong evidence type/source</a:t>
            </a:r>
            <a:endParaRPr lang="en-US" sz="755" dirty="0"/>
          </a:p>
        </p:txBody>
      </p:sp>
      <p:sp>
        <p:nvSpPr>
          <p:cNvPr id="22" name="Text 20"/>
          <p:cNvSpPr/>
          <p:nvPr/>
        </p:nvSpPr>
        <p:spPr>
          <a:xfrm>
            <a:off x="7086600" y="3311957"/>
            <a:ext cx="47823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eval compares expected evidence source vs actual retrieved source</a:t>
            </a:r>
            <a:endParaRPr lang="en-US" sz="755" dirty="0"/>
          </a:p>
        </p:txBody>
      </p:sp>
      <p:sp>
        <p:nvSpPr>
          <p:cNvPr id="23" name="Text 21"/>
          <p:cNvSpPr/>
          <p:nvPr/>
        </p:nvSpPr>
        <p:spPr>
          <a:xfrm>
            <a:off x="320040" y="3826764"/>
            <a:ext cx="29535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Chunks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HybridRetriever.retrieve()</a:t>
            </a:r>
            <a:endParaRPr lang="en-US" sz="755" dirty="0"/>
          </a:p>
        </p:txBody>
      </p:sp>
      <p:sp>
        <p:nvSpPr>
          <p:cNvPr id="24" name="Text 22"/>
          <p:cNvSpPr/>
          <p:nvPr/>
        </p:nvSpPr>
        <p:spPr>
          <a:xfrm>
            <a:off x="3291840" y="3826764"/>
            <a:ext cx="377647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chunks returned for hospitalization/rule context</a:t>
            </a:r>
            <a:endParaRPr lang="en-US" sz="755" dirty="0"/>
          </a:p>
        </p:txBody>
      </p:sp>
      <p:sp>
        <p:nvSpPr>
          <p:cNvPr id="25" name="Text 23"/>
          <p:cNvSpPr/>
          <p:nvPr/>
        </p:nvSpPr>
        <p:spPr>
          <a:xfrm>
            <a:off x="7086600" y="3826764"/>
            <a:ext cx="47823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 span: source IDs/scores; retrieval_relevance score and chunk inspection</a:t>
            </a:r>
            <a:endParaRPr lang="en-US" sz="755" dirty="0"/>
          </a:p>
        </p:txBody>
      </p:sp>
      <p:sp>
        <p:nvSpPr>
          <p:cNvPr id="26" name="Text 24"/>
          <p:cNvSpPr/>
          <p:nvPr/>
        </p:nvSpPr>
        <p:spPr>
          <a:xfrm>
            <a:off x="320040" y="4341571"/>
            <a:ext cx="29535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Parsing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parser / extractor step</a:t>
            </a:r>
            <a:endParaRPr lang="en-US" sz="755" dirty="0"/>
          </a:p>
        </p:txBody>
      </p:sp>
      <p:sp>
        <p:nvSpPr>
          <p:cNvPr id="27" name="Text 25"/>
          <p:cNvSpPr/>
          <p:nvPr/>
        </p:nvSpPr>
        <p:spPr>
          <a:xfrm>
            <a:off x="3291840" y="4341571"/>
            <a:ext cx="377647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date format or wrong lookback window</a:t>
            </a:r>
            <a:endParaRPr lang="en-US" sz="755" dirty="0"/>
          </a:p>
        </p:txBody>
      </p:sp>
      <p:sp>
        <p:nvSpPr>
          <p:cNvPr id="28" name="Text 26"/>
          <p:cNvSpPr/>
          <p:nvPr/>
        </p:nvSpPr>
        <p:spPr>
          <a:xfrm>
            <a:off x="7086600" y="4341571"/>
            <a:ext cx="47823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Eval: date_validity=FAIL; attribute parsed_date vs source_date</a:t>
            </a:r>
            <a:endParaRPr lang="en-US" sz="755" dirty="0"/>
          </a:p>
        </p:txBody>
      </p:sp>
      <p:sp>
        <p:nvSpPr>
          <p:cNvPr id="29" name="Text 27"/>
          <p:cNvSpPr/>
          <p:nvPr/>
        </p:nvSpPr>
        <p:spPr>
          <a:xfrm>
            <a:off x="320040" y="4856378"/>
            <a:ext cx="29535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Lookback Calculation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RuleEngine / classify step</a:t>
            </a:r>
            <a:endParaRPr lang="en-US" sz="755" dirty="0"/>
          </a:p>
        </p:txBody>
      </p:sp>
      <p:sp>
        <p:nvSpPr>
          <p:cNvPr id="30" name="Text 28"/>
          <p:cNvSpPr/>
          <p:nvPr/>
        </p:nvSpPr>
        <p:spPr>
          <a:xfrm>
            <a:off x="3291840" y="4856378"/>
            <a:ext cx="377647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included/excluded incorrectly due to cutoff date</a:t>
            </a:r>
            <a:endParaRPr lang="en-US" sz="755" dirty="0"/>
          </a:p>
        </p:txBody>
      </p:sp>
      <p:sp>
        <p:nvSpPr>
          <p:cNvPr id="31" name="Text 29"/>
          <p:cNvSpPr/>
          <p:nvPr/>
        </p:nvSpPr>
        <p:spPr>
          <a:xfrm>
            <a:off x="7086600" y="4856378"/>
            <a:ext cx="47823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span: reference_date, cutoff, event_date; drift/lookback eval flags issue</a:t>
            </a:r>
            <a:endParaRPr lang="en-US" sz="755" dirty="0"/>
          </a:p>
        </p:txBody>
      </p:sp>
      <p:sp>
        <p:nvSpPr>
          <p:cNvPr id="32" name="Text 30"/>
          <p:cNvSpPr/>
          <p:nvPr/>
        </p:nvSpPr>
        <p:spPr>
          <a:xfrm>
            <a:off x="320040" y="5371186"/>
            <a:ext cx="29535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Generation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SummaryAgent._narrate()</a:t>
            </a:r>
            <a:endParaRPr lang="en-US" sz="755" dirty="0"/>
          </a:p>
        </p:txBody>
      </p:sp>
      <p:sp>
        <p:nvSpPr>
          <p:cNvPr id="33" name="Text 31"/>
          <p:cNvSpPr/>
          <p:nvPr/>
        </p:nvSpPr>
        <p:spPr>
          <a:xfrm>
            <a:off x="3291840" y="5371186"/>
            <a:ext cx="377647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omits evidence or adds unsupported statement</a:t>
            </a:r>
            <a:endParaRPr lang="en-US" sz="755" dirty="0"/>
          </a:p>
        </p:txBody>
      </p:sp>
      <p:sp>
        <p:nvSpPr>
          <p:cNvPr id="34" name="Text 32"/>
          <p:cNvSpPr/>
          <p:nvPr/>
        </p:nvSpPr>
        <p:spPr>
          <a:xfrm>
            <a:off x="7086600" y="5371186"/>
            <a:ext cx="47823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Groundedness + completeness eval; missing_section=Labs/Medication</a:t>
            </a:r>
            <a:endParaRPr lang="en-US" sz="755" dirty="0"/>
          </a:p>
        </p:txBody>
      </p:sp>
      <p:sp>
        <p:nvSpPr>
          <p:cNvPr id="35" name="Text 33"/>
          <p:cNvSpPr/>
          <p:nvPr/>
        </p:nvSpPr>
        <p:spPr>
          <a:xfrm>
            <a:off x="320040" y="5885993"/>
            <a:ext cx="29535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QA Verifier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MedicalQAVerifier.run()</a:t>
            </a:r>
            <a:endParaRPr lang="en-US" sz="755" dirty="0"/>
          </a:p>
        </p:txBody>
      </p:sp>
      <p:sp>
        <p:nvSpPr>
          <p:cNvPr id="36" name="Text 34"/>
          <p:cNvSpPr/>
          <p:nvPr/>
        </p:nvSpPr>
        <p:spPr>
          <a:xfrm>
            <a:off x="3291840" y="5885993"/>
            <a:ext cx="377647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Unsafe/inconsistent summary passes through</a:t>
            </a:r>
            <a:endParaRPr lang="en-US" sz="755" dirty="0"/>
          </a:p>
        </p:txBody>
      </p:sp>
      <p:sp>
        <p:nvSpPr>
          <p:cNvPr id="37" name="Text 35"/>
          <p:cNvSpPr/>
          <p:nvPr/>
        </p:nvSpPr>
        <p:spPr>
          <a:xfrm>
            <a:off x="7086600" y="5885993"/>
            <a:ext cx="47823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QA span: warning_count, fallback_triggered, action=review/escalate</a:t>
            </a:r>
            <a:endParaRPr lang="en-US" sz="75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6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Rulebook, safety and enterprise-risk observations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38328" y="53035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Reviewer-style failure scenarios across deterministic logic, PHI, access, tools and production readiness.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2953512" cy="292608"/>
          </a:xfrm>
          <a:prstGeom prst="rect">
            <a:avLst/>
          </a:prstGeom>
          <a:solidFill>
            <a:srgbClr val="B86E00"/>
          </a:solidFill>
          <a:ln w="8890">
            <a:solidFill>
              <a:srgbClr val="B86E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+ code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291840" y="960120"/>
            <a:ext cx="3776472" cy="292608"/>
          </a:xfrm>
          <a:prstGeom prst="rect">
            <a:avLst/>
          </a:prstGeom>
          <a:solidFill>
            <a:srgbClr val="B86E00"/>
          </a:solidFill>
          <a:ln w="8890">
            <a:solidFill>
              <a:srgbClr val="B86E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issue / failure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086600" y="960120"/>
            <a:ext cx="4782312" cy="292608"/>
          </a:xfrm>
          <a:prstGeom prst="rect">
            <a:avLst/>
          </a:prstGeom>
          <a:solidFill>
            <a:srgbClr val="B86E00"/>
          </a:solidFill>
          <a:ln w="8890">
            <a:solidFill>
              <a:srgbClr val="B86E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Arize AX view / reviewer answer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29535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Rulebook loader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src/rules/loader.py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load_rulebook()</a:t>
            </a:r>
            <a:endParaRPr lang="en-US" sz="755" dirty="0"/>
          </a:p>
        </p:txBody>
      </p:sp>
      <p:sp>
        <p:nvSpPr>
          <p:cNvPr id="9" name="Text 7"/>
          <p:cNvSpPr/>
          <p:nvPr/>
        </p:nvSpPr>
        <p:spPr>
          <a:xfrm>
            <a:off x="3291840" y="1252728"/>
            <a:ext cx="377647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YAML/rule change silently changes decision logic</a:t>
            </a:r>
            <a:endParaRPr lang="en-US" sz="755" dirty="0"/>
          </a:p>
        </p:txBody>
      </p:sp>
      <p:sp>
        <p:nvSpPr>
          <p:cNvPr id="10" name="Text 8"/>
          <p:cNvSpPr/>
          <p:nvPr/>
        </p:nvSpPr>
        <p:spPr>
          <a:xfrm>
            <a:off x="7086600" y="1252728"/>
            <a:ext cx="47823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evaluator replays RuleEngine; eval.RuleEngineDrift=DRIFT</a:t>
            </a:r>
            <a:endParaRPr lang="en-US" sz="755" dirty="0"/>
          </a:p>
        </p:txBody>
      </p:sp>
      <p:sp>
        <p:nvSpPr>
          <p:cNvPr id="11" name="Text 9"/>
          <p:cNvSpPr/>
          <p:nvPr/>
        </p:nvSpPr>
        <p:spPr>
          <a:xfrm>
            <a:off x="320040" y="1767535"/>
            <a:ext cx="29535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Ontology mapping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src/rules/ontology.py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load_ontology()</a:t>
            </a:r>
            <a:endParaRPr lang="en-US" sz="755" dirty="0"/>
          </a:p>
        </p:txBody>
      </p:sp>
      <p:sp>
        <p:nvSpPr>
          <p:cNvPr id="12" name="Text 10"/>
          <p:cNvSpPr/>
          <p:nvPr/>
        </p:nvSpPr>
        <p:spPr>
          <a:xfrm>
            <a:off x="3291840" y="1767535"/>
            <a:ext cx="377647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 alias maps to wrong disease group</a:t>
            </a:r>
            <a:endParaRPr lang="en-US" sz="755" dirty="0"/>
          </a:p>
        </p:txBody>
      </p:sp>
      <p:sp>
        <p:nvSpPr>
          <p:cNvPr id="13" name="Text 11"/>
          <p:cNvSpPr/>
          <p:nvPr/>
        </p:nvSpPr>
        <p:spPr>
          <a:xfrm>
            <a:off x="7086600" y="1767535"/>
            <a:ext cx="47823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eval: expected_condition_group vs actual_condition_group</a:t>
            </a:r>
            <a:endParaRPr lang="en-US" sz="755" dirty="0"/>
          </a:p>
        </p:txBody>
      </p:sp>
      <p:sp>
        <p:nvSpPr>
          <p:cNvPr id="14" name="Text 12"/>
          <p:cNvSpPr/>
          <p:nvPr/>
        </p:nvSpPr>
        <p:spPr>
          <a:xfrm>
            <a:off x="320040" y="2282342"/>
            <a:ext cx="29535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RuleEngine decision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src/rules/engine.py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_decide()</a:t>
            </a:r>
            <a:endParaRPr lang="en-US" sz="755" dirty="0"/>
          </a:p>
        </p:txBody>
      </p:sp>
      <p:sp>
        <p:nvSpPr>
          <p:cNvPr id="15" name="Text 13"/>
          <p:cNvSpPr/>
          <p:nvPr/>
        </p:nvSpPr>
        <p:spPr>
          <a:xfrm>
            <a:off x="3291840" y="2282342"/>
            <a:ext cx="377647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positive/negative, inferred-only evidence treated as confirmed</a:t>
            </a:r>
            <a:endParaRPr lang="en-US" sz="755" dirty="0"/>
          </a:p>
        </p:txBody>
      </p:sp>
      <p:sp>
        <p:nvSpPr>
          <p:cNvPr id="16" name="Text 14"/>
          <p:cNvSpPr/>
          <p:nvPr/>
        </p:nvSpPr>
        <p:spPr>
          <a:xfrm>
            <a:off x="7086600" y="2282342"/>
            <a:ext cx="47823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span: support_count, inferred_count, out_of_lookback_count, status</a:t>
            </a:r>
            <a:endParaRPr lang="en-US" sz="755" dirty="0"/>
          </a:p>
        </p:txBody>
      </p:sp>
      <p:sp>
        <p:nvSpPr>
          <p:cNvPr id="17" name="Text 15"/>
          <p:cNvSpPr/>
          <p:nvPr/>
        </p:nvSpPr>
        <p:spPr>
          <a:xfrm>
            <a:off x="320040" y="2797150"/>
            <a:ext cx="29535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evidence handling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policy/rule layer</a:t>
            </a:r>
            <a:endParaRPr lang="en-US" sz="755" dirty="0"/>
          </a:p>
        </p:txBody>
      </p:sp>
      <p:sp>
        <p:nvSpPr>
          <p:cNvPr id="18" name="Text 16"/>
          <p:cNvSpPr/>
          <p:nvPr/>
        </p:nvSpPr>
        <p:spPr>
          <a:xfrm>
            <a:off x="3291840" y="2797150"/>
            <a:ext cx="377647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evidence but model gives definitive answer</a:t>
            </a:r>
            <a:endParaRPr lang="en-US" sz="755" dirty="0"/>
          </a:p>
        </p:txBody>
      </p:sp>
      <p:sp>
        <p:nvSpPr>
          <p:cNvPr id="19" name="Text 17"/>
          <p:cNvSpPr/>
          <p:nvPr/>
        </p:nvSpPr>
        <p:spPr>
          <a:xfrm>
            <a:off x="7086600" y="2797150"/>
            <a:ext cx="47823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eval: evidence_count=0 + answer_type=definitive → FAIL</a:t>
            </a:r>
            <a:endParaRPr lang="en-US" sz="755" dirty="0"/>
          </a:p>
        </p:txBody>
      </p:sp>
      <p:sp>
        <p:nvSpPr>
          <p:cNvPr id="20" name="Text 18"/>
          <p:cNvSpPr/>
          <p:nvPr/>
        </p:nvSpPr>
        <p:spPr>
          <a:xfrm>
            <a:off x="320040" y="3311957"/>
            <a:ext cx="29535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 redaction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src/core/logging_conf.py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redact()</a:t>
            </a:r>
            <a:endParaRPr lang="en-US" sz="755" dirty="0"/>
          </a:p>
        </p:txBody>
      </p:sp>
      <p:sp>
        <p:nvSpPr>
          <p:cNvPr id="21" name="Text 19"/>
          <p:cNvSpPr/>
          <p:nvPr/>
        </p:nvSpPr>
        <p:spPr>
          <a:xfrm>
            <a:off x="3291840" y="3311957"/>
            <a:ext cx="377647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text or identifiers leak into trace attributes</a:t>
            </a:r>
            <a:endParaRPr lang="en-US" sz="755" dirty="0"/>
          </a:p>
        </p:txBody>
      </p:sp>
      <p:sp>
        <p:nvSpPr>
          <p:cNvPr id="22" name="Text 20"/>
          <p:cNvSpPr/>
          <p:nvPr/>
        </p:nvSpPr>
        <p:spPr>
          <a:xfrm>
            <a:off x="7086600" y="3311957"/>
            <a:ext cx="47823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eval scans spans; allowed metadata only: IDs/scores/counts/status</a:t>
            </a:r>
            <a:endParaRPr lang="en-US" sz="755" dirty="0"/>
          </a:p>
        </p:txBody>
      </p:sp>
      <p:sp>
        <p:nvSpPr>
          <p:cNvPr id="23" name="Text 21"/>
          <p:cNvSpPr/>
          <p:nvPr/>
        </p:nvSpPr>
        <p:spPr>
          <a:xfrm>
            <a:off x="320040" y="3826764"/>
            <a:ext cx="29535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authorization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allowlist layer</a:t>
            </a:r>
            <a:endParaRPr lang="en-US" sz="755" dirty="0"/>
          </a:p>
        </p:txBody>
      </p:sp>
      <p:sp>
        <p:nvSpPr>
          <p:cNvPr id="24" name="Text 22"/>
          <p:cNvSpPr/>
          <p:nvPr/>
        </p:nvSpPr>
        <p:spPr>
          <a:xfrm>
            <a:off x="3291840" y="3826764"/>
            <a:ext cx="377647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calls wrong MuleSoft/Salesforce/API tool</a:t>
            </a:r>
            <a:endParaRPr lang="en-US" sz="755" dirty="0"/>
          </a:p>
        </p:txBody>
      </p:sp>
      <p:sp>
        <p:nvSpPr>
          <p:cNvPr id="25" name="Text 23"/>
          <p:cNvSpPr/>
          <p:nvPr/>
        </p:nvSpPr>
        <p:spPr>
          <a:xfrm>
            <a:off x="7086600" y="3826764"/>
            <a:ext cx="47823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Tool-selection eval: expected_tool vs actual_tool; unauthorized_tool=true</a:t>
            </a:r>
            <a:endParaRPr lang="en-US" sz="755" dirty="0"/>
          </a:p>
        </p:txBody>
      </p:sp>
      <p:sp>
        <p:nvSpPr>
          <p:cNvPr id="26" name="Text 24"/>
          <p:cNvSpPr/>
          <p:nvPr/>
        </p:nvSpPr>
        <p:spPr>
          <a:xfrm>
            <a:off x="320040" y="4341571"/>
            <a:ext cx="29535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MuleSoft/API call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tools/mulesoft_client.py</a:t>
            </a:r>
            <a:endParaRPr lang="en-US" sz="755" dirty="0"/>
          </a:p>
        </p:txBody>
      </p:sp>
      <p:sp>
        <p:nvSpPr>
          <p:cNvPr id="27" name="Text 25"/>
          <p:cNvSpPr/>
          <p:nvPr/>
        </p:nvSpPr>
        <p:spPr>
          <a:xfrm>
            <a:off x="3291840" y="4341571"/>
            <a:ext cx="377647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 token expired, 5xx, timeout, schema mismatch</a:t>
            </a:r>
            <a:endParaRPr lang="en-US" sz="755" dirty="0"/>
          </a:p>
        </p:txBody>
      </p:sp>
      <p:sp>
        <p:nvSpPr>
          <p:cNvPr id="28" name="Text 26"/>
          <p:cNvSpPr/>
          <p:nvPr/>
        </p:nvSpPr>
        <p:spPr>
          <a:xfrm>
            <a:off x="7086600" y="4341571"/>
            <a:ext cx="47823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span: http.status, retry_count, timeout=true; Signal: API failure spike</a:t>
            </a:r>
            <a:endParaRPr lang="en-US" sz="755" dirty="0"/>
          </a:p>
        </p:txBody>
      </p:sp>
      <p:sp>
        <p:nvSpPr>
          <p:cNvPr id="29" name="Text 27"/>
          <p:cNvSpPr/>
          <p:nvPr/>
        </p:nvSpPr>
        <p:spPr>
          <a:xfrm>
            <a:off x="320040" y="4856378"/>
            <a:ext cx="29535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 Search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Agent / retriever</a:t>
            </a:r>
            <a:endParaRPr lang="en-US" sz="755" dirty="0"/>
          </a:p>
        </p:txBody>
      </p:sp>
      <p:sp>
        <p:nvSpPr>
          <p:cNvPr id="30" name="Text 28"/>
          <p:cNvSpPr/>
          <p:nvPr/>
        </p:nvSpPr>
        <p:spPr>
          <a:xfrm>
            <a:off x="3291840" y="4856378"/>
            <a:ext cx="377647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member/case filter, index stale, no results</a:t>
            </a:r>
            <a:endParaRPr lang="en-US" sz="755" dirty="0"/>
          </a:p>
        </p:txBody>
      </p:sp>
      <p:sp>
        <p:nvSpPr>
          <p:cNvPr id="31" name="Text 29"/>
          <p:cNvSpPr/>
          <p:nvPr/>
        </p:nvSpPr>
        <p:spPr>
          <a:xfrm>
            <a:off x="7086600" y="4856378"/>
            <a:ext cx="47823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retrieval.filter.member_scope=PASS/FAIL; top_k and index_version recorded</a:t>
            </a:r>
            <a:endParaRPr lang="en-US" sz="755" dirty="0"/>
          </a:p>
        </p:txBody>
      </p:sp>
      <p:sp>
        <p:nvSpPr>
          <p:cNvPr id="32" name="Text 30"/>
          <p:cNvSpPr/>
          <p:nvPr/>
        </p:nvSpPr>
        <p:spPr>
          <a:xfrm>
            <a:off x="320040" y="5371186"/>
            <a:ext cx="29535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Gateway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src/llm/gateway.py</a:t>
            </a:r>
            <a:endParaRPr lang="en-US" sz="755" dirty="0"/>
          </a:p>
        </p:txBody>
      </p:sp>
      <p:sp>
        <p:nvSpPr>
          <p:cNvPr id="33" name="Text 31"/>
          <p:cNvSpPr/>
          <p:nvPr/>
        </p:nvSpPr>
        <p:spPr>
          <a:xfrm>
            <a:off x="3291840" y="5371186"/>
            <a:ext cx="377647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429, high latency, high token use, wrong model version</a:t>
            </a:r>
            <a:endParaRPr lang="en-US" sz="755" dirty="0"/>
          </a:p>
        </p:txBody>
      </p:sp>
      <p:sp>
        <p:nvSpPr>
          <p:cNvPr id="34" name="Text 32"/>
          <p:cNvSpPr/>
          <p:nvPr/>
        </p:nvSpPr>
        <p:spPr>
          <a:xfrm>
            <a:off x="7086600" y="5371186"/>
            <a:ext cx="4782312" cy="49651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span: model, tokens, cost, latency, 429 count; dashboard threshold</a:t>
            </a:r>
            <a:endParaRPr lang="en-US" sz="755" dirty="0"/>
          </a:p>
        </p:txBody>
      </p:sp>
      <p:sp>
        <p:nvSpPr>
          <p:cNvPr id="35" name="Text 33"/>
          <p:cNvSpPr/>
          <p:nvPr/>
        </p:nvSpPr>
        <p:spPr>
          <a:xfrm>
            <a:off x="320040" y="5885993"/>
            <a:ext cx="29535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</a:t>
            </a:r>
            <a:endParaRPr lang="en-US" sz="755" dirty="0"/>
          </a:p>
          <a:p>
            <a:pPr marL="0" indent="0" algn="l">
              <a:buNone/>
            </a:pPr>
            <a:r>
              <a:rPr lang="en-US" sz="75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run_experiment.py / CI</a:t>
            </a:r>
            <a:endParaRPr lang="en-US" sz="755" dirty="0"/>
          </a:p>
        </p:txBody>
      </p:sp>
      <p:sp>
        <p:nvSpPr>
          <p:cNvPr id="36" name="Text 34"/>
          <p:cNvSpPr/>
          <p:nvPr/>
        </p:nvSpPr>
        <p:spPr>
          <a:xfrm>
            <a:off x="3291840" y="5885993"/>
            <a:ext cx="377647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Prompt/model/retrieval change ships without proof</a:t>
            </a:r>
            <a:endParaRPr lang="en-US" sz="755" dirty="0"/>
          </a:p>
        </p:txBody>
      </p:sp>
      <p:sp>
        <p:nvSpPr>
          <p:cNvPr id="37" name="Text 35"/>
          <p:cNvSpPr/>
          <p:nvPr/>
        </p:nvSpPr>
        <p:spPr>
          <a:xfrm>
            <a:off x="7086600" y="5885993"/>
            <a:ext cx="4782312" cy="496519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Experiment: current vs candidate; fail if groundedness/completeness regresses</a:t>
            </a:r>
            <a:endParaRPr lang="en-US" sz="75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6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failures display in Arize AX — traces, evals, Signal, datasets, experiments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38328" y="53035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examples the team can expect to see in Arize once instrumentation is wired.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1399032" cy="292608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Arize area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1737360" y="960120"/>
            <a:ext cx="1856232" cy="292608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see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3611880" y="960120"/>
            <a:ext cx="2313432" cy="292608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output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13990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</a:t>
            </a:r>
            <a:endParaRPr lang="en-US" sz="765" dirty="0"/>
          </a:p>
        </p:txBody>
      </p:sp>
      <p:sp>
        <p:nvSpPr>
          <p:cNvPr id="9" name="Text 7"/>
          <p:cNvSpPr/>
          <p:nvPr/>
        </p:nvSpPr>
        <p:spPr>
          <a:xfrm>
            <a:off x="1737360" y="1252728"/>
            <a:ext cx="18562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request tree with child spans</a:t>
            </a:r>
            <a:endParaRPr lang="en-US" sz="765" dirty="0"/>
          </a:p>
        </p:txBody>
      </p:sp>
      <p:sp>
        <p:nvSpPr>
          <p:cNvPr id="10" name="Text 8"/>
          <p:cNvSpPr/>
          <p:nvPr/>
        </p:nvSpPr>
        <p:spPr>
          <a:xfrm>
            <a:off x="3611880" y="1252728"/>
            <a:ext cx="23134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qa_request → intent → vector → chatbot → verifier</a:t>
            </a:r>
            <a:endParaRPr lang="en-US" sz="765" dirty="0"/>
          </a:p>
        </p:txBody>
      </p:sp>
      <p:sp>
        <p:nvSpPr>
          <p:cNvPr id="11" name="Text 9"/>
          <p:cNvSpPr/>
          <p:nvPr/>
        </p:nvSpPr>
        <p:spPr>
          <a:xfrm>
            <a:off x="320040" y="1764792"/>
            <a:ext cx="13990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Span attributes</a:t>
            </a:r>
            <a:endParaRPr lang="en-US" sz="765" dirty="0"/>
          </a:p>
        </p:txBody>
      </p:sp>
      <p:sp>
        <p:nvSpPr>
          <p:cNvPr id="12" name="Text 10"/>
          <p:cNvSpPr/>
          <p:nvPr/>
        </p:nvSpPr>
        <p:spPr>
          <a:xfrm>
            <a:off x="1737360" y="1764792"/>
            <a:ext cx="18562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 that make failures searchable</a:t>
            </a:r>
            <a:endParaRPr lang="en-US" sz="765" dirty="0"/>
          </a:p>
        </p:txBody>
      </p:sp>
      <p:sp>
        <p:nvSpPr>
          <p:cNvPr id="13" name="Text 11"/>
          <p:cNvSpPr/>
          <p:nvPr/>
        </p:nvSpPr>
        <p:spPr>
          <a:xfrm>
            <a:off x="3611880" y="1764792"/>
            <a:ext cx="23134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intent.route=BOTH, vector.score=0.14, guardrail.status=QUARANTINED</a:t>
            </a:r>
            <a:endParaRPr lang="en-US" sz="765" dirty="0"/>
          </a:p>
        </p:txBody>
      </p:sp>
      <p:sp>
        <p:nvSpPr>
          <p:cNvPr id="14" name="Text 12"/>
          <p:cNvSpPr/>
          <p:nvPr/>
        </p:nvSpPr>
        <p:spPr>
          <a:xfrm>
            <a:off x="320040" y="2276856"/>
            <a:ext cx="13990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Evaluations</a:t>
            </a:r>
            <a:endParaRPr lang="en-US" sz="765" dirty="0"/>
          </a:p>
        </p:txBody>
      </p:sp>
      <p:sp>
        <p:nvSpPr>
          <p:cNvPr id="15" name="Text 13"/>
          <p:cNvSpPr/>
          <p:nvPr/>
        </p:nvSpPr>
        <p:spPr>
          <a:xfrm>
            <a:off x="1737360" y="2276856"/>
            <a:ext cx="18562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PASS/FAIL/score on traces/spans</a:t>
            </a:r>
            <a:endParaRPr lang="en-US" sz="765" dirty="0"/>
          </a:p>
        </p:txBody>
      </p:sp>
      <p:sp>
        <p:nvSpPr>
          <p:cNvPr id="16" name="Text 14"/>
          <p:cNvSpPr/>
          <p:nvPr/>
        </p:nvSpPr>
        <p:spPr>
          <a:xfrm>
            <a:off x="3611880" y="2276856"/>
            <a:ext cx="23134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eval.groundedness=0.31 FAIL; eval.intent_accuracy=PASS</a:t>
            </a:r>
            <a:endParaRPr lang="en-US" sz="765" dirty="0"/>
          </a:p>
        </p:txBody>
      </p:sp>
      <p:sp>
        <p:nvSpPr>
          <p:cNvPr id="17" name="Text 15"/>
          <p:cNvSpPr/>
          <p:nvPr/>
        </p:nvSpPr>
        <p:spPr>
          <a:xfrm>
            <a:off x="320040" y="2788920"/>
            <a:ext cx="13990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765" dirty="0"/>
          </a:p>
        </p:txBody>
      </p:sp>
      <p:sp>
        <p:nvSpPr>
          <p:cNvPr id="18" name="Text 16"/>
          <p:cNvSpPr/>
          <p:nvPr/>
        </p:nvSpPr>
        <p:spPr>
          <a:xfrm>
            <a:off x="1737360" y="2788920"/>
            <a:ext cx="18562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recurring patterns</a:t>
            </a:r>
            <a:endParaRPr lang="en-US" sz="765" dirty="0"/>
          </a:p>
        </p:txBody>
      </p:sp>
      <p:sp>
        <p:nvSpPr>
          <p:cNvPr id="19" name="Text 17"/>
          <p:cNvSpPr/>
          <p:nvPr/>
        </p:nvSpPr>
        <p:spPr>
          <a:xfrm>
            <a:off x="3611880" y="2788920"/>
            <a:ext cx="23134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“Q&amp;A grounding failures recurring for hospitalization questions”</a:t>
            </a:r>
            <a:endParaRPr lang="en-US" sz="765" dirty="0"/>
          </a:p>
        </p:txBody>
      </p:sp>
      <p:sp>
        <p:nvSpPr>
          <p:cNvPr id="20" name="Text 18"/>
          <p:cNvSpPr/>
          <p:nvPr/>
        </p:nvSpPr>
        <p:spPr>
          <a:xfrm>
            <a:off x="320040" y="3300984"/>
            <a:ext cx="13990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</a:t>
            </a:r>
            <a:endParaRPr lang="en-US" sz="765" dirty="0"/>
          </a:p>
        </p:txBody>
      </p:sp>
      <p:sp>
        <p:nvSpPr>
          <p:cNvPr id="21" name="Text 19"/>
          <p:cNvSpPr/>
          <p:nvPr/>
        </p:nvSpPr>
        <p:spPr>
          <a:xfrm>
            <a:off x="1737360" y="3300984"/>
            <a:ext cx="18562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regression cases</a:t>
            </a:r>
            <a:endParaRPr lang="en-US" sz="765" dirty="0"/>
          </a:p>
        </p:txBody>
      </p:sp>
      <p:sp>
        <p:nvSpPr>
          <p:cNvPr id="22" name="Text 20"/>
          <p:cNvSpPr/>
          <p:nvPr/>
        </p:nvSpPr>
        <p:spPr>
          <a:xfrm>
            <a:off x="3611880" y="3300984"/>
            <a:ext cx="23134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cases + failed production traces with expected output</a:t>
            </a:r>
            <a:endParaRPr lang="en-US" sz="765" dirty="0"/>
          </a:p>
        </p:txBody>
      </p:sp>
      <p:sp>
        <p:nvSpPr>
          <p:cNvPr id="23" name="Text 21"/>
          <p:cNvSpPr/>
          <p:nvPr/>
        </p:nvSpPr>
        <p:spPr>
          <a:xfrm>
            <a:off x="320040" y="3813048"/>
            <a:ext cx="13990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Experiments</a:t>
            </a:r>
            <a:endParaRPr lang="en-US" sz="765" dirty="0"/>
          </a:p>
        </p:txBody>
      </p:sp>
      <p:sp>
        <p:nvSpPr>
          <p:cNvPr id="24" name="Text 22"/>
          <p:cNvSpPr/>
          <p:nvPr/>
        </p:nvSpPr>
        <p:spPr>
          <a:xfrm>
            <a:off x="1737360" y="3813048"/>
            <a:ext cx="18562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old vs new releases</a:t>
            </a:r>
            <a:endParaRPr lang="en-US" sz="765" dirty="0"/>
          </a:p>
        </p:txBody>
      </p:sp>
      <p:sp>
        <p:nvSpPr>
          <p:cNvPr id="25" name="Text 23"/>
          <p:cNvSpPr/>
          <p:nvPr/>
        </p:nvSpPr>
        <p:spPr>
          <a:xfrm>
            <a:off x="3611880" y="3813048"/>
            <a:ext cx="23134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groundedness 89% → v2 97%, latency 2.1s → 1.8s</a:t>
            </a:r>
            <a:endParaRPr lang="en-US" sz="765" dirty="0"/>
          </a:p>
        </p:txBody>
      </p:sp>
      <p:sp>
        <p:nvSpPr>
          <p:cNvPr id="26" name="Text 24"/>
          <p:cNvSpPr/>
          <p:nvPr/>
        </p:nvSpPr>
        <p:spPr>
          <a:xfrm>
            <a:off x="320040" y="4325112"/>
            <a:ext cx="13990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765" dirty="0"/>
          </a:p>
        </p:txBody>
      </p:sp>
      <p:sp>
        <p:nvSpPr>
          <p:cNvPr id="27" name="Text 25"/>
          <p:cNvSpPr/>
          <p:nvPr/>
        </p:nvSpPr>
        <p:spPr>
          <a:xfrm>
            <a:off x="1737360" y="4325112"/>
            <a:ext cx="18562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and quality metrics</a:t>
            </a:r>
            <a:endParaRPr lang="en-US" sz="765" dirty="0"/>
          </a:p>
        </p:txBody>
      </p:sp>
      <p:sp>
        <p:nvSpPr>
          <p:cNvPr id="28" name="Text 26"/>
          <p:cNvSpPr/>
          <p:nvPr/>
        </p:nvSpPr>
        <p:spPr>
          <a:xfrm>
            <a:off x="3611880" y="4325112"/>
            <a:ext cx="231343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latency, cost, token usage, failure %, drift count</a:t>
            </a:r>
            <a:endParaRPr lang="en-US" sz="765" dirty="0"/>
          </a:p>
        </p:txBody>
      </p:sp>
      <p:sp>
        <p:nvSpPr>
          <p:cNvPr id="29" name="Text 27"/>
          <p:cNvSpPr/>
          <p:nvPr/>
        </p:nvSpPr>
        <p:spPr>
          <a:xfrm>
            <a:off x="320040" y="4837176"/>
            <a:ext cx="13990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Annotations</a:t>
            </a:r>
            <a:endParaRPr lang="en-US" sz="765" dirty="0"/>
          </a:p>
        </p:txBody>
      </p:sp>
      <p:sp>
        <p:nvSpPr>
          <p:cNvPr id="30" name="Text 28"/>
          <p:cNvSpPr/>
          <p:nvPr/>
        </p:nvSpPr>
        <p:spPr>
          <a:xfrm>
            <a:off x="1737360" y="4837176"/>
            <a:ext cx="18562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reviewer labels</a:t>
            </a:r>
            <a:endParaRPr lang="en-US" sz="765" dirty="0"/>
          </a:p>
        </p:txBody>
      </p:sp>
      <p:sp>
        <p:nvSpPr>
          <p:cNvPr id="31" name="Text 29"/>
          <p:cNvSpPr/>
          <p:nvPr/>
        </p:nvSpPr>
        <p:spPr>
          <a:xfrm>
            <a:off x="3611880" y="4837176"/>
            <a:ext cx="2313432" cy="493776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Underwriter: correct / missing evidence / not useful</a:t>
            </a:r>
            <a:endParaRPr lang="en-US" sz="765" dirty="0"/>
          </a:p>
        </p:txBody>
      </p:sp>
      <p:sp>
        <p:nvSpPr>
          <p:cNvPr id="32" name="Text 30"/>
          <p:cNvSpPr/>
          <p:nvPr/>
        </p:nvSpPr>
        <p:spPr>
          <a:xfrm>
            <a:off x="6172200" y="960120"/>
            <a:ext cx="5623560" cy="4389120"/>
          </a:xfrm>
          <a:prstGeom prst="rect">
            <a:avLst/>
          </a:prstGeom>
          <a:solidFill>
            <a:srgbClr val="F7F9FC"/>
          </a:solidFill>
          <a:ln w="8890">
            <a:solidFill>
              <a:srgbClr val="94A3B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failed trace view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qa_request #A783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├─ intent_agent  PASS   0.2s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├─ vector_agent  LOW_RELEVANCE score=0.22   0.7s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├─ chatbot       generated answer   1.6s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├─ grounding     FAIL: missing citation   0.3s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└─ output_guardrail BLOCKED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impact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Groundedness failure +1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Quarantine ratio 12%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p95 latency 4.8s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token cost $0.021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Signal pattern: hospitalization rule mismatch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5715000"/>
            <a:ext cx="11201400" cy="457200"/>
          </a:xfrm>
          <a:prstGeom prst="rect">
            <a:avLst/>
          </a:prstGeom>
          <a:solidFill>
            <a:srgbClr val="EAF6EE"/>
          </a:solidFill>
          <a:ln w="8890">
            <a:solidFill>
              <a:srgbClr val="9BD8A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value: Instead of reading logs manually, reviewers can filter by eval failure, guardrail status, route, source/chunk, model version, prompt version, latency bucket or RuleEngine drift.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6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AIRB / production-review questions — concrete Arize + code answer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38328" y="53035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show the reviewer we are not hand-waving observability, hallucination control or PHI safety.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227832" cy="292608"/>
          </a:xfrm>
          <a:prstGeom prst="rect">
            <a:avLst/>
          </a:prstGeom>
          <a:solidFill>
            <a:srgbClr val="B00020"/>
          </a:solidFill>
          <a:ln w="8890">
            <a:solidFill>
              <a:srgbClr val="B0002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asks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566160" y="960120"/>
            <a:ext cx="3959352" cy="292608"/>
          </a:xfrm>
          <a:prstGeom prst="rect">
            <a:avLst/>
          </a:prstGeom>
          <a:solidFill>
            <a:srgbClr val="B00020"/>
          </a:solidFill>
          <a:ln w="8890">
            <a:solidFill>
              <a:srgbClr val="B0002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implement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543800" y="960120"/>
            <a:ext cx="4325112" cy="292608"/>
          </a:xfrm>
          <a:prstGeom prst="rect">
            <a:avLst/>
          </a:prstGeom>
          <a:solidFill>
            <a:srgbClr val="B00020"/>
          </a:solidFill>
          <a:ln w="8890">
            <a:solidFill>
              <a:srgbClr val="B0002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Arize AX evidence/output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322783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know model is not hallucinating?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566160" y="1252728"/>
            <a:ext cx="395935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verifier + Arize eval; each claim checked against retrieved evidence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543800" y="1252728"/>
            <a:ext cx="432511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guardrail.status=QUARANTINED; eval.groundedness=FAIL; citation missing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20040" y="1896237"/>
            <a:ext cx="322783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know retrieval is correct?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566160" y="1896237"/>
            <a:ext cx="395935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 span records source/chunk IDs, scores, top_k and member/case filter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543800" y="1896237"/>
            <a:ext cx="432511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eval.retrieval_relevance=0.28; wrong_source=true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20040" y="2539746"/>
            <a:ext cx="322783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know rule change did not break logic?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566160" y="2539746"/>
            <a:ext cx="395935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code evaluator replays actual RuleEngine on live trace inputs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543800" y="2539746"/>
            <a:ext cx="432511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eval.RuleEngineDrift=DRIFT; replayed=CONSISTENT, traced=INCONSISTENT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20040" y="3183255"/>
            <a:ext cx="322783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prove a prompt/model change is better?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566160" y="3183255"/>
            <a:ext cx="395935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current vs candidate against same golden dataset and same evaluators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7543800" y="3183255"/>
            <a:ext cx="432511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experiment: groundedness +8%, no-evidence fail 0, latency -0.3s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20040" y="3826764"/>
            <a:ext cx="322783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to PHI?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566160" y="3826764"/>
            <a:ext cx="395935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 sensitive attributes before export; send structural metadata where possible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7543800" y="3826764"/>
            <a:ext cx="432511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claim_text_redacted, no raw clinical text, source IDs/counts/scores only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20040" y="4470273"/>
            <a:ext cx="322783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model make underwriting decision?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566160" y="4470273"/>
            <a:ext cx="395935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No; no-decision guardrail remains application-level, Arize observes it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7543800" y="4470273"/>
            <a:ext cx="432511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policy.final_decision_attempt=BLOCKED; action=ESCALATE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20040" y="5113782"/>
            <a:ext cx="322783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can access telemetry?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566160" y="5113782"/>
            <a:ext cx="395935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SSO/RBAC before production telemetry is enabled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543800" y="5113782"/>
            <a:ext cx="4325112" cy="6252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roles: viewer, evaluator, admin; tied to Entra groups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20040" y="5757291"/>
            <a:ext cx="322783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trace data leave network?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3566160" y="5757291"/>
            <a:ext cx="395935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approved private connectivity/data-region decision before prod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7543800" y="5757291"/>
            <a:ext cx="4325112" cy="625221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synthetic data; prod gated on Private Link/enterprise approval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6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 implementation plan — where the templates fit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38328" y="53035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templates generated against the POC structure; review, wire to real paths and validate with synthetic/non-PHI traffic first.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2907792" cy="292608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/ component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46120" y="960120"/>
            <a:ext cx="4187952" cy="292608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in POC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52360" y="960120"/>
            <a:ext cx="4416552" cy="292608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team 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2907792" cy="42824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observability/tracing_init.py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246120" y="1252728"/>
            <a:ext cx="4187952" cy="42824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Arize OTel/OpenInference once at AKS/FastAPI startup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452360" y="1252728"/>
            <a:ext cx="4416552" cy="42824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trace appears for /ask and /summary request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20040" y="1699260"/>
            <a:ext cx="2907792" cy="428244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observability/guardrail_spans.py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246120" y="1699260"/>
            <a:ext cx="4187952" cy="428244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 grounding verifier with Guardrail spans and PHI redaction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452360" y="1699260"/>
            <a:ext cx="4416552" cy="428244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guardrail.status=QUARANTINED in Arize UI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20040" y="2145792"/>
            <a:ext cx="2907792" cy="42824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src/agents/base.py update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246120" y="2145792"/>
            <a:ext cx="4187952" cy="42824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each agent span so traces show Intent/Vector/SQL/Chatbot/Summary clearly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452360" y="2145792"/>
            <a:ext cx="4416552" cy="42824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tree shows actual agent names, not opaque framework span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20040" y="2592324"/>
            <a:ext cx="2907792" cy="428244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evaluation/code_evaluator_rule_drift.py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246120" y="2592324"/>
            <a:ext cx="4187952" cy="428244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AKS CronJob checks live rule spans against current RuleEngine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7452360" y="2592324"/>
            <a:ext cx="4416552" cy="428244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label when rulebook/code changes silently affect result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20040" y="3038856"/>
            <a:ext cx="2907792" cy="42824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evaluation/build_golden_dataset.py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246120" y="3038856"/>
            <a:ext cx="4187952" cy="42824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synthetic edge cases into reusable regression dataset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7452360" y="3038856"/>
            <a:ext cx="4416552" cy="42824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Dataset: uw-ai-assist-golden-cases-v1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20040" y="3485388"/>
            <a:ext cx="2907792" cy="428244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evaluation/run_experiment.py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246120" y="3485388"/>
            <a:ext cx="4187952" cy="428244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current vs candidate prompt/model/retrieval/code version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7452360" y="3485388"/>
            <a:ext cx="4416552" cy="428244"/>
          </a:xfrm>
          <a:prstGeom prst="rect">
            <a:avLst/>
          </a:prstGeom>
          <a:solidFill>
            <a:srgbClr val="F7F9FC"/>
          </a:solidFill>
          <a:ln w="8890"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side-by-side score before PR/QA promotion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11480" y="4297680"/>
            <a:ext cx="1581912" cy="768096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Synthetic only</a:t>
            </a:r>
            <a:endParaRPr lang="en-US" sz="760" dirty="0"/>
          </a:p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non-PHI POC cases first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2048256" y="4297680"/>
            <a:ext cx="1581912" cy="768096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Trace Q&amp;A</a:t>
            </a:r>
            <a:endParaRPr lang="en-US" sz="760" dirty="0"/>
          </a:p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→ intent → SQL/vector → chatbot → grounding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3685032" y="4297680"/>
            <a:ext cx="1581912" cy="768096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Trace Summary</a:t>
            </a:r>
            <a:endParaRPr lang="en-US" sz="760" dirty="0"/>
          </a:p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extractors → rule engine → narrative → Medical QA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5321808" y="4297680"/>
            <a:ext cx="1581912" cy="768096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Enable evals</a:t>
            </a:r>
            <a:endParaRPr lang="en-US" sz="760" dirty="0"/>
          </a:p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intent, retrieval, groundedness, citation, no-evidence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6958584" y="4297680"/>
            <a:ext cx="1581912" cy="768096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Create dataset</a:t>
            </a:r>
            <a:endParaRPr lang="en-US" sz="760" dirty="0"/>
          </a:p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traces + synthetic edge cases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595360" y="4297680"/>
            <a:ext cx="1581912" cy="768096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Experiment gate</a:t>
            </a:r>
            <a:endParaRPr lang="en-US" sz="760" dirty="0"/>
          </a:p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vs candidate before AKS promotion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10232136" y="4297680"/>
            <a:ext cx="1581912" cy="768096"/>
          </a:xfrm>
          <a:prstGeom prst="rect">
            <a:avLst/>
          </a:prstGeom>
          <a:solidFill>
            <a:srgbClr val="EAF3FF"/>
          </a:solidFill>
          <a:ln w="8890">
            <a:solidFill>
              <a:srgbClr val="BBD2F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Production controls</a:t>
            </a:r>
            <a:endParaRPr lang="en-US" sz="760" dirty="0"/>
          </a:p>
          <a:p>
            <a:pPr marL="0" indent="0" algn="ctr">
              <a:buNone/>
            </a:pPr>
            <a:r>
              <a:rPr lang="en-US" sz="7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Vault, SSO/RBAC, data region, Private Link decision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457200" y="5715000"/>
            <a:ext cx="11201400" cy="502920"/>
          </a:xfrm>
          <a:prstGeom prst="rect">
            <a:avLst/>
          </a:prstGeom>
          <a:solidFill>
            <a:srgbClr val="0B1F3A"/>
          </a:solidFill>
          <a:ln w="889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small start: instrument one /ask flow and one /summary flow, validate trace names + redaction + eval outputs, then expand to Signal/datasets/experiments after reviewer approval.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2797</Words>
  <Application>Microsoft Office PowerPoint</Application>
  <PresentationFormat>Widescreen</PresentationFormat>
  <Paragraphs>369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Arize AX – UW AI Assist POC Failure Catalog</dc:title>
  <dc:subject>Arize AX failure/observation catalog for UW AI Assist POC</dc:subject>
  <dc:creator>OpenAI</dc:creator>
  <cp:lastModifiedBy>Sadanand Katukuri</cp:lastModifiedBy>
  <cp:revision>1</cp:revision>
  <dcterms:created xsi:type="dcterms:W3CDTF">2026-09-08T23:32:24Z</dcterms:created>
  <dcterms:modified xsi:type="dcterms:W3CDTF">2026-09-08T23:39:57Z</dcterms:modified>
</cp:coreProperties>
</file>